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g" ContentType="image/jpe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1999" cy="6858000" type="wide"/>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1" Type="http://schemas.openxmlformats.org/officeDocument/2006/relationships/image" Target="../media/media1.png"/></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1" Type="http://schemas.openxmlformats.org/officeDocument/2006/relationships/image" Target="../media/media2.pn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1" Type="http://schemas.openxmlformats.org/officeDocument/2006/relationships/image" Target="../media/media3.png"/><Relationship Id="rId2" Type="http://schemas.openxmlformats.org/officeDocument/2006/relationships/image" Target="../media/media4.png"/><Relationship Id="rId3" Type="http://schemas.openxmlformats.org/officeDocument/2006/relationships/image" Target="../media/media5.png"/><Relationship Id="rId4" Type="http://schemas.openxmlformats.org/officeDocument/2006/relationships/image" Target="../media/media6.png"/></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0" name="Shape 10"/>
          <p:cNvSpPr/>
          <p:nvPr/>
        </p:nvSpPr>
        <p:spPr>
          <a:xfrm>
            <a:off x="0" y="0"/>
            <a:ext cx="12191695" cy="6858000"/>
          </a:xfrm>
          <a:prstGeom prst="rect">
            <a:avLst/>
          </a:prstGeom>
          <a:solidFill>
            <a:srgbClr val="F8FAFC"/>
          </a:solidFill>
          <a:ln w="9525">
            <a:solidFill>
              <a:srgbClr val="F8FAFC"/>
            </a:solidFill>
          </a:ln>
        </p:spPr>
        <p:txBody>
          <a:bodyPr/>
          <a:lstStyle/>
          <a:p/>
        </p:txBody>
      </p:sp>
      <p:sp>
        <p:nvSpPr>
          <p:cNvPr id="11" name="Shape 11"/>
          <p:cNvSpPr/>
          <p:nvPr/>
        </p:nvSpPr>
        <p:spPr>
          <a:xfrm>
            <a:off x="0" y="0"/>
            <a:ext cx="12191695" cy="164592"/>
          </a:xfrm>
          <a:prstGeom prst="rect">
            <a:avLst/>
          </a:prstGeom>
          <a:solidFill>
            <a:srgbClr val="2563EB"/>
          </a:solidFill>
          <a:ln w="9525">
            <a:solidFill>
              <a:srgbClr val="2563EB"/>
            </a:solidFill>
          </a:ln>
        </p:spPr>
        <p:txBody>
          <a:bodyPr/>
          <a:lstStyle/>
          <a:p/>
        </p:txBody>
      </p:sp>
      <p:sp>
        <p:nvSpPr>
          <p:cNvPr id="12" name="TextBox 12"/>
          <p:cNvSpPr txBox="1"/>
          <p:nvPr/>
        </p:nvSpPr>
        <p:spPr>
          <a:xfrm>
            <a:off x="658368" y="1143000"/>
            <a:ext cx="10607040" cy="1051560"/>
          </a:xfrm>
          <a:prstGeom prst="rect">
            <a:avLst/>
          </a:prstGeom>
          <a:noFill/>
          <a:ln>
            <a:noFill/>
          </a:ln>
        </p:spPr>
        <p:txBody>
          <a:bodyPr wrap="square" anchor="t"/>
          <a:lstStyle/>
          <a:p>
            <a:pPr algn="l"/>
            <a:r>
              <a:rPr lang="vi-VN" sz="3000" b="1">
                <a:solidFill>
                  <a:srgbClr val="0F172A"/>
                </a:solidFill>
                <a:latin typeface="Aptos"/>
              </a:rPr>
              <a:t>Xây dựng hệ thống truy xuất nguồn gốc hàng hóa</a:t>
            </a:r>
            <a:endParaRPr lang="vi-VN" sz="3000"/>
          </a:p>
          <a:p>
            <a:pPr algn="l"/>
            <a:r>
              <a:rPr lang="vi-VN" sz="3000" b="1">
                <a:solidFill>
                  <a:srgbClr val="0F172A"/>
                </a:solidFill>
                <a:latin typeface="Aptos"/>
              </a:rPr>
              <a:t>sử dụng công nghệ blockchain và microservice</a:t>
            </a:r>
            <a:endParaRPr lang="vi-VN" sz="3000"/>
          </a:p>
        </p:txBody>
      </p:sp>
      <p:sp>
        <p:nvSpPr>
          <p:cNvPr id="13" name="TextBox 13"/>
          <p:cNvSpPr txBox="1"/>
          <p:nvPr/>
        </p:nvSpPr>
        <p:spPr>
          <a:xfrm>
            <a:off x="685800" y="2542032"/>
            <a:ext cx="7863840" cy="320040"/>
          </a:xfrm>
          <a:prstGeom prst="rect">
            <a:avLst/>
          </a:prstGeom>
          <a:noFill/>
          <a:ln>
            <a:noFill/>
          </a:ln>
        </p:spPr>
        <p:txBody>
          <a:bodyPr wrap="square" anchor="t"/>
          <a:lstStyle/>
          <a:p>
            <a:pPr algn="l"/>
            <a:r>
              <a:rPr lang="vi-VN" sz="1800" b="1">
                <a:solidFill>
                  <a:srgbClr val="2563EB"/>
                </a:solidFill>
                <a:latin typeface="Aptos"/>
              </a:rPr>
              <a:t>Đồ án tốt nghiệp</a:t>
            </a:r>
            <a:endParaRPr lang="vi-VN" sz="1800"/>
          </a:p>
        </p:txBody>
      </p:sp>
      <p:sp>
        <p:nvSpPr>
          <p:cNvPr id="14" name="Shape 14"/>
          <p:cNvSpPr/>
          <p:nvPr/>
        </p:nvSpPr>
        <p:spPr>
          <a:xfrm>
            <a:off x="713232" y="3154680"/>
            <a:ext cx="5303520" cy="1417320"/>
          </a:xfrm>
          <a:prstGeom prst="roundRect">
            <a:avLst/>
          </a:prstGeom>
          <a:solidFill>
            <a:srgbClr val="FFFFFF"/>
          </a:solidFill>
          <a:ln w="9525">
            <a:solidFill>
              <a:srgbClr val="E2E8F0"/>
            </a:solidFill>
          </a:ln>
        </p:spPr>
        <p:txBody>
          <a:bodyPr/>
          <a:lstStyle/>
          <a:p/>
        </p:txBody>
      </p:sp>
      <p:sp>
        <p:nvSpPr>
          <p:cNvPr id="15" name="Shape 15"/>
          <p:cNvSpPr/>
          <p:nvPr/>
        </p:nvSpPr>
        <p:spPr>
          <a:xfrm>
            <a:off x="713232" y="3154680"/>
            <a:ext cx="73152" cy="1417320"/>
          </a:xfrm>
          <a:prstGeom prst="rect">
            <a:avLst/>
          </a:prstGeom>
          <a:solidFill>
            <a:srgbClr val="16A34A"/>
          </a:solidFill>
          <a:ln w="9525">
            <a:solidFill>
              <a:srgbClr val="16A34A"/>
            </a:solidFill>
          </a:ln>
        </p:spPr>
        <p:txBody>
          <a:bodyPr/>
          <a:lstStyle/>
          <a:p/>
        </p:txBody>
      </p:sp>
      <p:sp>
        <p:nvSpPr>
          <p:cNvPr id="16" name="TextBox 16"/>
          <p:cNvSpPr txBox="1"/>
          <p:nvPr/>
        </p:nvSpPr>
        <p:spPr>
          <a:xfrm>
            <a:off x="941832" y="3319272"/>
            <a:ext cx="4892040" cy="320040"/>
          </a:xfrm>
          <a:prstGeom prst="rect">
            <a:avLst/>
          </a:prstGeom>
          <a:noFill/>
          <a:ln>
            <a:noFill/>
          </a:ln>
        </p:spPr>
        <p:txBody>
          <a:bodyPr wrap="square" anchor="t"/>
          <a:lstStyle/>
          <a:p>
            <a:pPr algn="l"/>
            <a:r>
              <a:rPr lang="vi-VN" sz="1600" b="1">
                <a:solidFill>
                  <a:srgbClr val="0F172A"/>
                </a:solidFill>
                <a:latin typeface="Aptos"/>
              </a:rPr>
              <a:t>Sinh viên thực hiện</a:t>
            </a:r>
            <a:endParaRPr lang="vi-VN" sz="1600"/>
          </a:p>
        </p:txBody>
      </p:sp>
      <p:sp>
        <p:nvSpPr>
          <p:cNvPr id="17" name="TextBox 17"/>
          <p:cNvSpPr txBox="1"/>
          <p:nvPr/>
        </p:nvSpPr>
        <p:spPr>
          <a:xfrm>
            <a:off x="941832" y="3721608"/>
            <a:ext cx="4892040" cy="777240"/>
          </a:xfrm>
          <a:prstGeom prst="rect">
            <a:avLst/>
          </a:prstGeom>
          <a:noFill/>
          <a:ln>
            <a:noFill/>
          </a:ln>
        </p:spPr>
        <p:txBody>
          <a:bodyPr wrap="square" anchor="t"/>
          <a:lstStyle/>
          <a:p>
            <a:pPr algn="l"/>
            <a:r>
              <a:rPr lang="vi-VN" sz="1300">
                <a:solidFill>
                  <a:srgbClr val="475569"/>
                </a:solidFill>
                <a:latin typeface="Aptos"/>
              </a:rPr>
              <a:t>Nguyễn Đăng Nam</a:t>
            </a:r>
            <a:endParaRPr lang="vi-VN" sz="1300"/>
          </a:p>
          <a:p>
            <a:pPr algn="l"/>
            <a:r>
              <a:rPr lang="vi-VN" sz="1300">
                <a:solidFill>
                  <a:srgbClr val="475569"/>
                </a:solidFill>
                <a:latin typeface="Aptos"/>
              </a:rPr>
              <a:t>Mã SV: CT060226 | Lớp: CT6B</a:t>
            </a:r>
            <a:endParaRPr lang="vi-VN" sz="1300"/>
          </a:p>
        </p:txBody>
      </p:sp>
      <p:sp>
        <p:nvSpPr>
          <p:cNvPr id="18" name="Shape 18"/>
          <p:cNvSpPr/>
          <p:nvPr/>
        </p:nvSpPr>
        <p:spPr>
          <a:xfrm>
            <a:off x="6263640" y="3154680"/>
            <a:ext cx="5074920" cy="1417320"/>
          </a:xfrm>
          <a:prstGeom prst="roundRect">
            <a:avLst/>
          </a:prstGeom>
          <a:solidFill>
            <a:srgbClr val="FFFFFF"/>
          </a:solidFill>
          <a:ln w="9525">
            <a:solidFill>
              <a:srgbClr val="E2E8F0"/>
            </a:solidFill>
          </a:ln>
        </p:spPr>
        <p:txBody>
          <a:bodyPr/>
          <a:lstStyle/>
          <a:p/>
        </p:txBody>
      </p:sp>
      <p:sp>
        <p:nvSpPr>
          <p:cNvPr id="19" name="Shape 19"/>
          <p:cNvSpPr/>
          <p:nvPr/>
        </p:nvSpPr>
        <p:spPr>
          <a:xfrm>
            <a:off x="6263640" y="3154680"/>
            <a:ext cx="73152" cy="1417320"/>
          </a:xfrm>
          <a:prstGeom prst="rect">
            <a:avLst/>
          </a:prstGeom>
          <a:solidFill>
            <a:srgbClr val="2563EB"/>
          </a:solidFill>
          <a:ln w="9525">
            <a:solidFill>
              <a:srgbClr val="2563EB"/>
            </a:solidFill>
          </a:ln>
        </p:spPr>
        <p:txBody>
          <a:bodyPr/>
          <a:lstStyle/>
          <a:p/>
        </p:txBody>
      </p:sp>
      <p:sp>
        <p:nvSpPr>
          <p:cNvPr id="20" name="TextBox 20"/>
          <p:cNvSpPr txBox="1"/>
          <p:nvPr/>
        </p:nvSpPr>
        <p:spPr>
          <a:xfrm>
            <a:off x="6492240" y="3319272"/>
            <a:ext cx="4663440" cy="320040"/>
          </a:xfrm>
          <a:prstGeom prst="rect">
            <a:avLst/>
          </a:prstGeom>
          <a:noFill/>
          <a:ln>
            <a:noFill/>
          </a:ln>
        </p:spPr>
        <p:txBody>
          <a:bodyPr wrap="square" anchor="t"/>
          <a:lstStyle/>
          <a:p>
            <a:pPr algn="l"/>
            <a:r>
              <a:rPr lang="vi-VN" sz="1600" b="1">
                <a:solidFill>
                  <a:srgbClr val="0F172A"/>
                </a:solidFill>
                <a:latin typeface="Aptos"/>
              </a:rPr>
              <a:t>Giảng viên hướng dẫn</a:t>
            </a:r>
            <a:endParaRPr lang="vi-VN" sz="1600"/>
          </a:p>
        </p:txBody>
      </p:sp>
      <p:sp>
        <p:nvSpPr>
          <p:cNvPr id="21" name="TextBox 21"/>
          <p:cNvSpPr txBox="1"/>
          <p:nvPr/>
        </p:nvSpPr>
        <p:spPr>
          <a:xfrm>
            <a:off x="6492240" y="3721608"/>
            <a:ext cx="4663440" cy="777240"/>
          </a:xfrm>
          <a:prstGeom prst="rect">
            <a:avLst/>
          </a:prstGeom>
          <a:noFill/>
          <a:ln>
            <a:noFill/>
          </a:ln>
        </p:spPr>
        <p:txBody>
          <a:bodyPr wrap="square" anchor="t"/>
          <a:lstStyle/>
          <a:p>
            <a:pPr algn="l"/>
            <a:r>
              <a:rPr lang="vi-VN" sz="1300">
                <a:solidFill>
                  <a:srgbClr val="475569"/>
                </a:solidFill>
                <a:latin typeface="Aptos"/>
              </a:rPr>
              <a:t>TS. Trần Anh Tú</a:t>
            </a:r>
            <a:endParaRPr lang="vi-VN" sz="1300"/>
          </a:p>
          <a:p>
            <a:pPr algn="l"/>
            <a:r>
              <a:rPr lang="vi-VN" sz="1300">
                <a:solidFill>
                  <a:srgbClr val="475569"/>
                </a:solidFill>
                <a:latin typeface="Aptos"/>
              </a:rPr>
              <a:t>ThS. Nguyễn Văn Quyết</a:t>
            </a:r>
            <a:endParaRPr lang="vi-VN" sz="1300"/>
          </a:p>
        </p:txBody>
      </p:sp>
      <p:sp>
        <p:nvSpPr>
          <p:cNvPr id="22" name="TextBox 22"/>
          <p:cNvSpPr txBox="1"/>
          <p:nvPr/>
        </p:nvSpPr>
        <p:spPr>
          <a:xfrm>
            <a:off x="713232" y="6172200"/>
            <a:ext cx="7772400" cy="274320"/>
          </a:xfrm>
          <a:prstGeom prst="rect">
            <a:avLst/>
          </a:prstGeom>
          <a:noFill/>
          <a:ln>
            <a:noFill/>
          </a:ln>
        </p:spPr>
        <p:txBody>
          <a:bodyPr wrap="square" anchor="t"/>
          <a:lstStyle/>
          <a:p>
            <a:pPr algn="l"/>
            <a:r>
              <a:rPr lang="vi-VN" sz="1200">
                <a:solidFill>
                  <a:srgbClr val="475569"/>
                </a:solidFill>
                <a:latin typeface="Aptos"/>
              </a:rPr>
              <a:t>Hệ thống truy xuất nguồn gốc | Blockchain | Microservices</a:t>
            </a:r>
            <a:endParaRPr lang="vi-VN" sz="1200"/>
          </a:p>
        </p:txBody>
      </p:sp>
      <p:pic>
        <p:nvPicPr>
          <p:cNvPr id="23" name="KMA"/>
          <p:cNvPicPr/>
          <p:nvPr/>
        </p:nvPicPr>
        <p:blipFill>
          <a:blip r:embed="rId1"/>
          <a:stretch>
            <a:fillRect/>
          </a:stretch>
        </p:blipFill>
        <p:spPr>
          <a:xfrm>
            <a:off x="10378440" y="502920"/>
            <a:ext cx="1051560" cy="1115568"/>
          </a:xfrm>
          <a:prstGeom prst="rect">
            <a:avLst/>
          </a:prstGeom>
          <a:ln w="9525">
            <a:solidFill>
              <a:srgbClr val="E2E8F0"/>
            </a:solid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502920" y="256032"/>
            <a:ext cx="9875520" cy="411480"/>
          </a:xfrm>
          <a:prstGeom prst="rect">
            <a:avLst/>
          </a:prstGeom>
          <a:noFill/>
          <a:ln>
            <a:noFill/>
          </a:ln>
        </p:spPr>
        <p:txBody>
          <a:bodyPr wrap="square" anchor="t"/>
          <a:lstStyle/>
          <a:p>
            <a:pPr algn="l"/>
            <a:r>
              <a:rPr lang="vi-VN" sz="2500" b="1">
                <a:solidFill>
                  <a:srgbClr val="0F172A"/>
                </a:solidFill>
                <a:latin typeface="Aptos"/>
              </a:rPr>
              <a:t>Bài toán và lý do chọn đề tài</a:t>
            </a:r>
            <a:endParaRPr lang="vi-VN" sz="2500"/>
          </a:p>
        </p:txBody>
      </p:sp>
      <p:sp>
        <p:nvSpPr>
          <p:cNvPr id="3" name="TextBox 3"/>
          <p:cNvSpPr txBox="1"/>
          <p:nvPr/>
        </p:nvSpPr>
        <p:spPr>
          <a:xfrm>
            <a:off x="521207" y="713232"/>
            <a:ext cx="9601200" cy="292608"/>
          </a:xfrm>
          <a:prstGeom prst="rect">
            <a:avLst/>
          </a:prstGeom>
          <a:noFill/>
          <a:ln>
            <a:noFill/>
          </a:ln>
        </p:spPr>
        <p:txBody>
          <a:bodyPr wrap="square" anchor="t"/>
          <a:lstStyle/>
          <a:p>
            <a:pPr algn="l"/>
            <a:r>
              <a:rPr lang="vi-VN" sz="1200">
                <a:solidFill>
                  <a:srgbClr val="475569"/>
                </a:solidFill>
                <a:latin typeface="Aptos"/>
              </a:rPr>
              <a:t>Từ nhu cầu thực tế của người mua và quản lý chuỗi cung ứng</a:t>
            </a:r>
            <a:endParaRPr lang="vi-VN" sz="1200"/>
          </a:p>
        </p:txBody>
      </p:sp>
      <p:sp>
        <p:nvSpPr>
          <p:cNvPr id="4" name="Shape 4"/>
          <p:cNvSpPr/>
          <p:nvPr/>
        </p:nvSpPr>
        <p:spPr>
          <a:xfrm>
            <a:off x="502920" y="1024128"/>
            <a:ext cx="1051560" cy="45720"/>
          </a:xfrm>
          <a:prstGeom prst="rect">
            <a:avLst/>
          </a:prstGeom>
          <a:solidFill>
            <a:srgbClr val="2563EB"/>
          </a:solidFill>
          <a:ln w="9525">
            <a:solidFill>
              <a:srgbClr val="2563EB"/>
            </a:solidFill>
          </a:ln>
        </p:spPr>
        <p:txBody>
          <a:bodyPr/>
          <a:lstStyle/>
          <a:p/>
        </p:txBody>
      </p:sp>
      <p:sp>
        <p:nvSpPr>
          <p:cNvPr id="20" name="Shape 20"/>
          <p:cNvSpPr/>
          <p:nvPr/>
        </p:nvSpPr>
        <p:spPr>
          <a:xfrm>
            <a:off x="868680" y="1581912"/>
            <a:ext cx="100584" cy="100584"/>
          </a:xfrm>
          <a:prstGeom prst="ellipse">
            <a:avLst/>
          </a:prstGeom>
          <a:solidFill>
            <a:srgbClr val="16A34A"/>
          </a:solidFill>
          <a:ln w="9525">
            <a:solidFill>
              <a:srgbClr val="16A34A"/>
            </a:solidFill>
          </a:ln>
        </p:spPr>
        <p:txBody>
          <a:bodyPr/>
          <a:lstStyle/>
          <a:p/>
        </p:txBody>
      </p:sp>
      <p:sp>
        <p:nvSpPr>
          <p:cNvPr id="21" name="TextBox 21"/>
          <p:cNvSpPr txBox="1"/>
          <p:nvPr/>
        </p:nvSpPr>
        <p:spPr>
          <a:xfrm>
            <a:off x="1124712" y="1508760"/>
            <a:ext cx="4956048" cy="347472"/>
          </a:xfrm>
          <a:prstGeom prst="rect">
            <a:avLst/>
          </a:prstGeom>
          <a:noFill/>
          <a:ln>
            <a:noFill/>
          </a:ln>
        </p:spPr>
        <p:txBody>
          <a:bodyPr wrap="square" anchor="t"/>
          <a:lstStyle/>
          <a:p>
            <a:pPr algn="l"/>
            <a:r>
              <a:rPr lang="vi-VN" sz="1800">
                <a:solidFill>
                  <a:srgbClr val="0F172A"/>
                </a:solidFill>
                <a:latin typeface="Aptos"/>
              </a:rPr>
              <a:t>Người tiêu dùng khó kiểm chứng nguồn gốc thật của sản phẩm.</a:t>
            </a:r>
            <a:endParaRPr lang="vi-VN" sz="1800"/>
          </a:p>
        </p:txBody>
      </p:sp>
      <p:sp>
        <p:nvSpPr>
          <p:cNvPr id="22" name="Shape 22"/>
          <p:cNvSpPr/>
          <p:nvPr/>
        </p:nvSpPr>
        <p:spPr>
          <a:xfrm>
            <a:off x="868680" y="2020824"/>
            <a:ext cx="100584" cy="100584"/>
          </a:xfrm>
          <a:prstGeom prst="ellipse">
            <a:avLst/>
          </a:prstGeom>
          <a:solidFill>
            <a:srgbClr val="16A34A"/>
          </a:solidFill>
          <a:ln w="9525">
            <a:solidFill>
              <a:srgbClr val="16A34A"/>
            </a:solidFill>
          </a:ln>
        </p:spPr>
        <p:txBody>
          <a:bodyPr/>
          <a:lstStyle/>
          <a:p/>
        </p:txBody>
      </p:sp>
      <p:sp>
        <p:nvSpPr>
          <p:cNvPr id="23" name="TextBox 23"/>
          <p:cNvSpPr txBox="1"/>
          <p:nvPr/>
        </p:nvSpPr>
        <p:spPr>
          <a:xfrm>
            <a:off x="1124712" y="1947672"/>
            <a:ext cx="4956048" cy="347472"/>
          </a:xfrm>
          <a:prstGeom prst="rect">
            <a:avLst/>
          </a:prstGeom>
          <a:noFill/>
          <a:ln>
            <a:noFill/>
          </a:ln>
        </p:spPr>
        <p:txBody>
          <a:bodyPr wrap="square" anchor="t"/>
          <a:lstStyle/>
          <a:p>
            <a:pPr algn="l"/>
            <a:r>
              <a:rPr lang="vi-VN" sz="1800">
                <a:solidFill>
                  <a:srgbClr val="0F172A"/>
                </a:solidFill>
                <a:latin typeface="Aptos"/>
              </a:rPr>
              <a:t>Thông tin trên bao bì và mã truy xuất có thể bị sao chép.</a:t>
            </a:r>
            <a:endParaRPr lang="vi-VN" sz="1800"/>
          </a:p>
        </p:txBody>
      </p:sp>
      <p:sp>
        <p:nvSpPr>
          <p:cNvPr id="24" name="Shape 24"/>
          <p:cNvSpPr/>
          <p:nvPr/>
        </p:nvSpPr>
        <p:spPr>
          <a:xfrm>
            <a:off x="868680" y="2459736"/>
            <a:ext cx="100584" cy="100584"/>
          </a:xfrm>
          <a:prstGeom prst="ellipse">
            <a:avLst/>
          </a:prstGeom>
          <a:solidFill>
            <a:srgbClr val="16A34A"/>
          </a:solidFill>
          <a:ln w="9525">
            <a:solidFill>
              <a:srgbClr val="16A34A"/>
            </a:solidFill>
          </a:ln>
        </p:spPr>
        <p:txBody>
          <a:bodyPr/>
          <a:lstStyle/>
          <a:p/>
        </p:txBody>
      </p:sp>
      <p:sp>
        <p:nvSpPr>
          <p:cNvPr id="25" name="TextBox 25"/>
          <p:cNvSpPr txBox="1"/>
          <p:nvPr/>
        </p:nvSpPr>
        <p:spPr>
          <a:xfrm>
            <a:off x="1124712" y="2386584"/>
            <a:ext cx="4956048" cy="347472"/>
          </a:xfrm>
          <a:prstGeom prst="rect">
            <a:avLst/>
          </a:prstGeom>
          <a:noFill/>
          <a:ln>
            <a:noFill/>
          </a:ln>
        </p:spPr>
        <p:txBody>
          <a:bodyPr wrap="square" anchor="t"/>
          <a:lstStyle/>
          <a:p>
            <a:pPr algn="l"/>
            <a:r>
              <a:rPr lang="vi-VN" sz="1800">
                <a:solidFill>
                  <a:srgbClr val="0F172A"/>
                </a:solidFill>
                <a:latin typeface="Aptos"/>
              </a:rPr>
              <a:t>Doanh nghiệp cần quản lý minh bạch từ nguyên liệu đến bán lẻ.</a:t>
            </a:r>
            <a:endParaRPr lang="vi-VN" sz="1800"/>
          </a:p>
        </p:txBody>
      </p:sp>
      <p:sp>
        <p:nvSpPr>
          <p:cNvPr id="26" name="Shape 26"/>
          <p:cNvSpPr/>
          <p:nvPr/>
        </p:nvSpPr>
        <p:spPr>
          <a:xfrm>
            <a:off x="868680" y="2898648"/>
            <a:ext cx="100584" cy="100584"/>
          </a:xfrm>
          <a:prstGeom prst="ellipse">
            <a:avLst/>
          </a:prstGeom>
          <a:solidFill>
            <a:srgbClr val="16A34A"/>
          </a:solidFill>
          <a:ln w="9525">
            <a:solidFill>
              <a:srgbClr val="16A34A"/>
            </a:solidFill>
          </a:ln>
        </p:spPr>
        <p:txBody>
          <a:bodyPr/>
          <a:lstStyle/>
          <a:p/>
        </p:txBody>
      </p:sp>
      <p:sp>
        <p:nvSpPr>
          <p:cNvPr id="27" name="TextBox 27"/>
          <p:cNvSpPr txBox="1"/>
          <p:nvPr/>
        </p:nvSpPr>
        <p:spPr>
          <a:xfrm>
            <a:off x="1124712" y="2825496"/>
            <a:ext cx="4956048" cy="347472"/>
          </a:xfrm>
          <a:prstGeom prst="rect">
            <a:avLst/>
          </a:prstGeom>
          <a:noFill/>
          <a:ln>
            <a:noFill/>
          </a:ln>
        </p:spPr>
        <p:txBody>
          <a:bodyPr wrap="square" anchor="t"/>
          <a:lstStyle/>
          <a:p>
            <a:pPr algn="l"/>
            <a:r>
              <a:rPr lang="vi-VN" sz="1800">
                <a:solidFill>
                  <a:srgbClr val="0F172A"/>
                </a:solidFill>
                <a:latin typeface="Aptos"/>
              </a:rPr>
              <a:t>Dữ liệu truy xuất cần có cơ chế xác minh khi nghi ngờ bị sửa đổi.</a:t>
            </a:r>
            <a:endParaRPr lang="vi-VN" sz="1800"/>
          </a:p>
        </p:txBody>
      </p:sp>
      <p:sp>
        <p:nvSpPr>
          <p:cNvPr id="35" name="Shape 35"/>
          <p:cNvSpPr/>
          <p:nvPr/>
        </p:nvSpPr>
        <p:spPr>
          <a:xfrm>
            <a:off x="6446520" y="1444752"/>
            <a:ext cx="4572000" cy="3017520"/>
          </a:xfrm>
          <a:prstGeom prst="roundRect">
            <a:avLst/>
          </a:prstGeom>
          <a:solidFill>
            <a:srgbClr val="DBEAFE"/>
          </a:solidFill>
          <a:ln w="9525">
            <a:solidFill>
              <a:srgbClr val="E2E8F0"/>
            </a:solidFill>
          </a:ln>
        </p:spPr>
        <p:txBody>
          <a:bodyPr/>
          <a:lstStyle/>
          <a:p/>
        </p:txBody>
      </p:sp>
      <p:sp>
        <p:nvSpPr>
          <p:cNvPr id="36" name="Shape 36"/>
          <p:cNvSpPr/>
          <p:nvPr/>
        </p:nvSpPr>
        <p:spPr>
          <a:xfrm>
            <a:off x="6446520" y="1444752"/>
            <a:ext cx="73152" cy="3017520"/>
          </a:xfrm>
          <a:prstGeom prst="rect">
            <a:avLst/>
          </a:prstGeom>
          <a:solidFill>
            <a:srgbClr val="2563EB"/>
          </a:solidFill>
          <a:ln w="9525">
            <a:solidFill>
              <a:srgbClr val="2563EB"/>
            </a:solidFill>
          </a:ln>
        </p:spPr>
        <p:txBody>
          <a:bodyPr/>
          <a:lstStyle/>
          <a:p/>
        </p:txBody>
      </p:sp>
      <p:sp>
        <p:nvSpPr>
          <p:cNvPr id="37" name="TextBox 37"/>
          <p:cNvSpPr txBox="1"/>
          <p:nvPr/>
        </p:nvSpPr>
        <p:spPr>
          <a:xfrm>
            <a:off x="6675120" y="1609344"/>
            <a:ext cx="4160520" cy="320040"/>
          </a:xfrm>
          <a:prstGeom prst="rect">
            <a:avLst/>
          </a:prstGeom>
          <a:noFill/>
          <a:ln>
            <a:noFill/>
          </a:ln>
        </p:spPr>
        <p:txBody>
          <a:bodyPr wrap="square" anchor="t"/>
          <a:lstStyle/>
          <a:p>
            <a:pPr algn="l"/>
            <a:r>
              <a:rPr lang="vi-VN" sz="1600" b="1">
                <a:solidFill>
                  <a:srgbClr val="0F172A"/>
                </a:solidFill>
                <a:latin typeface="Aptos"/>
              </a:rPr>
              <a:t>Vấn đề cốt lõi</a:t>
            </a:r>
            <a:endParaRPr lang="vi-VN" sz="1600"/>
          </a:p>
        </p:txBody>
      </p:sp>
      <p:sp>
        <p:nvSpPr>
          <p:cNvPr id="38" name="TextBox 38"/>
          <p:cNvSpPr txBox="1"/>
          <p:nvPr/>
        </p:nvSpPr>
        <p:spPr>
          <a:xfrm>
            <a:off x="6675120" y="2011680"/>
            <a:ext cx="4160520" cy="2377439"/>
          </a:xfrm>
          <a:prstGeom prst="rect">
            <a:avLst/>
          </a:prstGeom>
          <a:noFill/>
          <a:ln>
            <a:noFill/>
          </a:ln>
        </p:spPr>
        <p:txBody>
          <a:bodyPr wrap="square" anchor="t"/>
          <a:lstStyle/>
          <a:p>
            <a:pPr algn="l"/>
            <a:r>
              <a:rPr lang="vi-VN" sz="1300">
                <a:solidFill>
                  <a:srgbClr val="475569"/>
                </a:solidFill>
                <a:latin typeface="Aptos"/>
              </a:rPr>
              <a:t>Làm sao để người dùng tại điểm mua có thể biết sản phẩm đến từ đâu, có đáng tin hay không, và dữ liệu truy xuất có bị can thiệp không?</a:t>
            </a:r>
            <a:endParaRPr lang="vi-VN" sz="1300"/>
          </a:p>
        </p:txBody>
      </p:sp>
      <p:sp>
        <p:nvSpPr>
          <p:cNvPr id="39" name="Shape 39"/>
          <p:cNvSpPr/>
          <p:nvPr/>
        </p:nvSpPr>
        <p:spPr>
          <a:xfrm>
            <a:off x="6446520" y="4663440"/>
            <a:ext cx="4572000" cy="1005840"/>
          </a:xfrm>
          <a:prstGeom prst="roundRect">
            <a:avLst/>
          </a:prstGeom>
          <a:solidFill>
            <a:srgbClr val="DCFCE7"/>
          </a:solidFill>
          <a:ln w="9525">
            <a:solidFill>
              <a:srgbClr val="E2E8F0"/>
            </a:solidFill>
          </a:ln>
        </p:spPr>
        <p:txBody>
          <a:bodyPr/>
          <a:lstStyle/>
          <a:p/>
        </p:txBody>
      </p:sp>
      <p:sp>
        <p:nvSpPr>
          <p:cNvPr id="40" name="Shape 40"/>
          <p:cNvSpPr/>
          <p:nvPr/>
        </p:nvSpPr>
        <p:spPr>
          <a:xfrm>
            <a:off x="6446520" y="4663440"/>
            <a:ext cx="73152" cy="1005840"/>
          </a:xfrm>
          <a:prstGeom prst="rect">
            <a:avLst/>
          </a:prstGeom>
          <a:solidFill>
            <a:srgbClr val="16A34A"/>
          </a:solidFill>
          <a:ln w="9525">
            <a:solidFill>
              <a:srgbClr val="16A34A"/>
            </a:solidFill>
          </a:ln>
        </p:spPr>
        <p:txBody>
          <a:bodyPr/>
          <a:lstStyle/>
          <a:p/>
        </p:txBody>
      </p:sp>
      <p:sp>
        <p:nvSpPr>
          <p:cNvPr id="41" name="TextBox 41"/>
          <p:cNvSpPr txBox="1"/>
          <p:nvPr/>
        </p:nvSpPr>
        <p:spPr>
          <a:xfrm>
            <a:off x="6675120" y="4828031"/>
            <a:ext cx="4160520" cy="320040"/>
          </a:xfrm>
          <a:prstGeom prst="rect">
            <a:avLst/>
          </a:prstGeom>
          <a:noFill/>
          <a:ln>
            <a:noFill/>
          </a:ln>
        </p:spPr>
        <p:txBody>
          <a:bodyPr wrap="square" anchor="t"/>
          <a:lstStyle/>
          <a:p>
            <a:pPr algn="l"/>
            <a:r>
              <a:rPr lang="vi-VN" sz="1600" b="1">
                <a:solidFill>
                  <a:srgbClr val="0F172A"/>
                </a:solidFill>
                <a:latin typeface="Aptos"/>
              </a:rPr>
              <a:t>Hướng tiếp cận</a:t>
            </a:r>
            <a:endParaRPr lang="vi-VN" sz="1600"/>
          </a:p>
        </p:txBody>
      </p:sp>
      <p:sp>
        <p:nvSpPr>
          <p:cNvPr id="42" name="TextBox 42"/>
          <p:cNvSpPr txBox="1"/>
          <p:nvPr/>
        </p:nvSpPr>
        <p:spPr>
          <a:xfrm>
            <a:off x="6675120" y="5230368"/>
            <a:ext cx="4160520" cy="365760"/>
          </a:xfrm>
          <a:prstGeom prst="rect">
            <a:avLst/>
          </a:prstGeom>
          <a:noFill/>
          <a:ln>
            <a:noFill/>
          </a:ln>
        </p:spPr>
        <p:txBody>
          <a:bodyPr wrap="square" anchor="t"/>
          <a:lstStyle/>
          <a:p>
            <a:pPr algn="l"/>
            <a:r>
              <a:rPr lang="vi-VN" sz="1300">
                <a:solidFill>
                  <a:srgbClr val="475569"/>
                </a:solidFill>
                <a:latin typeface="Aptos"/>
              </a:rPr>
              <a:t>Kết hợp QR/serial, mobile app, microservices và blockchain lưu hash kiểm chứng.</a:t>
            </a:r>
            <a:endParaRPr lang="vi-VN" sz="13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502920" y="256032"/>
            <a:ext cx="9875520" cy="411480"/>
          </a:xfrm>
          <a:prstGeom prst="rect">
            <a:avLst/>
          </a:prstGeom>
          <a:noFill/>
          <a:ln>
            <a:noFill/>
          </a:ln>
        </p:spPr>
        <p:txBody>
          <a:bodyPr wrap="square" anchor="t"/>
          <a:lstStyle/>
          <a:p>
            <a:pPr algn="l"/>
            <a:r>
              <a:rPr lang="vi-VN" sz="2500" b="1">
                <a:solidFill>
                  <a:srgbClr val="0F172A"/>
                </a:solidFill>
                <a:latin typeface="Aptos"/>
              </a:rPr>
              <a:t>Mục tiêu và ý nghĩa thực tiễn</a:t>
            </a:r>
            <a:endParaRPr lang="vi-VN" sz="2500"/>
          </a:p>
        </p:txBody>
      </p:sp>
      <p:sp>
        <p:nvSpPr>
          <p:cNvPr id="3" name="TextBox 3"/>
          <p:cNvSpPr txBox="1"/>
          <p:nvPr/>
        </p:nvSpPr>
        <p:spPr>
          <a:xfrm>
            <a:off x="521207" y="713232"/>
            <a:ext cx="9601200" cy="292608"/>
          </a:xfrm>
          <a:prstGeom prst="rect">
            <a:avLst/>
          </a:prstGeom>
          <a:noFill/>
          <a:ln>
            <a:noFill/>
          </a:ln>
        </p:spPr>
        <p:txBody>
          <a:bodyPr wrap="square" anchor="t"/>
          <a:lstStyle/>
          <a:p>
            <a:pPr algn="l"/>
            <a:r>
              <a:rPr lang="vi-VN" sz="1200">
                <a:solidFill>
                  <a:srgbClr val="475569"/>
                </a:solidFill>
                <a:latin typeface="Aptos"/>
              </a:rPr>
              <a:t>Tập trung vào trải nghiệm người dùng cuối và khả năng kiểm chứng dữ liệu</a:t>
            </a:r>
            <a:endParaRPr lang="vi-VN" sz="1200"/>
          </a:p>
        </p:txBody>
      </p:sp>
      <p:sp>
        <p:nvSpPr>
          <p:cNvPr id="4" name="Shape 4"/>
          <p:cNvSpPr/>
          <p:nvPr/>
        </p:nvSpPr>
        <p:spPr>
          <a:xfrm>
            <a:off x="502920" y="1024128"/>
            <a:ext cx="1051560" cy="45720"/>
          </a:xfrm>
          <a:prstGeom prst="rect">
            <a:avLst/>
          </a:prstGeom>
          <a:solidFill>
            <a:srgbClr val="2563EB"/>
          </a:solidFill>
          <a:ln w="9525">
            <a:solidFill>
              <a:srgbClr val="2563EB"/>
            </a:solidFill>
          </a:ln>
        </p:spPr>
        <p:txBody>
          <a:bodyPr/>
          <a:lstStyle/>
          <a:p/>
        </p:txBody>
      </p:sp>
      <p:sp>
        <p:nvSpPr>
          <p:cNvPr id="20" name="Shape 20"/>
          <p:cNvSpPr/>
          <p:nvPr/>
        </p:nvSpPr>
        <p:spPr>
          <a:xfrm>
            <a:off x="731520" y="1417320"/>
            <a:ext cx="3474720" cy="1417320"/>
          </a:xfrm>
          <a:prstGeom prst="roundRect">
            <a:avLst/>
          </a:prstGeom>
          <a:solidFill>
            <a:srgbClr val="FFFFFF"/>
          </a:solidFill>
          <a:ln w="9525">
            <a:solidFill>
              <a:srgbClr val="E2E8F0"/>
            </a:solidFill>
          </a:ln>
        </p:spPr>
        <p:txBody>
          <a:bodyPr/>
          <a:lstStyle/>
          <a:p/>
        </p:txBody>
      </p:sp>
      <p:sp>
        <p:nvSpPr>
          <p:cNvPr id="21" name="Shape 21"/>
          <p:cNvSpPr/>
          <p:nvPr/>
        </p:nvSpPr>
        <p:spPr>
          <a:xfrm>
            <a:off x="731520" y="1417320"/>
            <a:ext cx="73152" cy="1417320"/>
          </a:xfrm>
          <a:prstGeom prst="rect">
            <a:avLst/>
          </a:prstGeom>
          <a:solidFill>
            <a:srgbClr val="16A34A"/>
          </a:solidFill>
          <a:ln w="9525">
            <a:solidFill>
              <a:srgbClr val="16A34A"/>
            </a:solidFill>
          </a:ln>
        </p:spPr>
        <p:txBody>
          <a:bodyPr/>
          <a:lstStyle/>
          <a:p/>
        </p:txBody>
      </p:sp>
      <p:sp>
        <p:nvSpPr>
          <p:cNvPr id="22" name="TextBox 22"/>
          <p:cNvSpPr txBox="1"/>
          <p:nvPr/>
        </p:nvSpPr>
        <p:spPr>
          <a:xfrm>
            <a:off x="960120" y="1581912"/>
            <a:ext cx="3063239" cy="320040"/>
          </a:xfrm>
          <a:prstGeom prst="rect">
            <a:avLst/>
          </a:prstGeom>
          <a:noFill/>
          <a:ln>
            <a:noFill/>
          </a:ln>
        </p:spPr>
        <p:txBody>
          <a:bodyPr wrap="square" anchor="t"/>
          <a:lstStyle/>
          <a:p>
            <a:pPr algn="l"/>
            <a:r>
              <a:rPr lang="vi-VN" sz="1600" b="1">
                <a:solidFill>
                  <a:srgbClr val="0F172A"/>
                </a:solidFill>
                <a:latin typeface="Aptos"/>
              </a:rPr>
              <a:t>Người tiêu dùng</a:t>
            </a:r>
            <a:endParaRPr lang="vi-VN" sz="1600"/>
          </a:p>
        </p:txBody>
      </p:sp>
      <p:sp>
        <p:nvSpPr>
          <p:cNvPr id="23" name="TextBox 23"/>
          <p:cNvSpPr txBox="1"/>
          <p:nvPr/>
        </p:nvSpPr>
        <p:spPr>
          <a:xfrm>
            <a:off x="960120" y="1984248"/>
            <a:ext cx="3063239" cy="777240"/>
          </a:xfrm>
          <a:prstGeom prst="rect">
            <a:avLst/>
          </a:prstGeom>
          <a:noFill/>
          <a:ln>
            <a:noFill/>
          </a:ln>
        </p:spPr>
        <p:txBody>
          <a:bodyPr wrap="square" anchor="t"/>
          <a:lstStyle/>
          <a:p>
            <a:pPr algn="l"/>
            <a:r>
              <a:rPr lang="vi-VN" sz="1300">
                <a:solidFill>
                  <a:srgbClr val="475569"/>
                </a:solidFill>
                <a:latin typeface="Aptos"/>
              </a:rPr>
              <a:t>Quét QR hoặc nhập serial để xem nguồn gốc, lịch sử vận chuyển và thông tin chi tiết sản phẩm.</a:t>
            </a:r>
            <a:endParaRPr lang="vi-VN" sz="1300"/>
          </a:p>
        </p:txBody>
      </p:sp>
      <p:sp>
        <p:nvSpPr>
          <p:cNvPr id="24" name="Shape 24"/>
          <p:cNvSpPr/>
          <p:nvPr/>
        </p:nvSpPr>
        <p:spPr>
          <a:xfrm>
            <a:off x="4389120" y="1417320"/>
            <a:ext cx="3474720" cy="1417320"/>
          </a:xfrm>
          <a:prstGeom prst="roundRect">
            <a:avLst/>
          </a:prstGeom>
          <a:solidFill>
            <a:srgbClr val="FFFFFF"/>
          </a:solidFill>
          <a:ln w="9525">
            <a:solidFill>
              <a:srgbClr val="E2E8F0"/>
            </a:solidFill>
          </a:ln>
        </p:spPr>
        <p:txBody>
          <a:bodyPr/>
          <a:lstStyle/>
          <a:p/>
        </p:txBody>
      </p:sp>
      <p:sp>
        <p:nvSpPr>
          <p:cNvPr id="25" name="Shape 25"/>
          <p:cNvSpPr/>
          <p:nvPr/>
        </p:nvSpPr>
        <p:spPr>
          <a:xfrm>
            <a:off x="4389120" y="1417320"/>
            <a:ext cx="73152" cy="1417320"/>
          </a:xfrm>
          <a:prstGeom prst="rect">
            <a:avLst/>
          </a:prstGeom>
          <a:solidFill>
            <a:srgbClr val="2563EB"/>
          </a:solidFill>
          <a:ln w="9525">
            <a:solidFill>
              <a:srgbClr val="2563EB"/>
            </a:solidFill>
          </a:ln>
        </p:spPr>
        <p:txBody>
          <a:bodyPr/>
          <a:lstStyle/>
          <a:p/>
        </p:txBody>
      </p:sp>
      <p:sp>
        <p:nvSpPr>
          <p:cNvPr id="26" name="TextBox 26"/>
          <p:cNvSpPr txBox="1"/>
          <p:nvPr/>
        </p:nvSpPr>
        <p:spPr>
          <a:xfrm>
            <a:off x="4617720" y="1581912"/>
            <a:ext cx="3063239" cy="320040"/>
          </a:xfrm>
          <a:prstGeom prst="rect">
            <a:avLst/>
          </a:prstGeom>
          <a:noFill/>
          <a:ln>
            <a:noFill/>
          </a:ln>
        </p:spPr>
        <p:txBody>
          <a:bodyPr wrap="square" anchor="t"/>
          <a:lstStyle/>
          <a:p>
            <a:pPr algn="l"/>
            <a:r>
              <a:rPr lang="vi-VN" sz="1600" b="1">
                <a:solidFill>
                  <a:srgbClr val="0F172A"/>
                </a:solidFill>
                <a:latin typeface="Aptos"/>
              </a:rPr>
              <a:t>Tham khảo đánh giá</a:t>
            </a:r>
            <a:endParaRPr lang="vi-VN" sz="1600"/>
          </a:p>
        </p:txBody>
      </p:sp>
      <p:sp>
        <p:nvSpPr>
          <p:cNvPr id="27" name="TextBox 27"/>
          <p:cNvSpPr txBox="1"/>
          <p:nvPr/>
        </p:nvSpPr>
        <p:spPr>
          <a:xfrm>
            <a:off x="4617720" y="1984248"/>
            <a:ext cx="3063239" cy="777240"/>
          </a:xfrm>
          <a:prstGeom prst="rect">
            <a:avLst/>
          </a:prstGeom>
          <a:noFill/>
          <a:ln>
            <a:noFill/>
          </a:ln>
        </p:spPr>
        <p:txBody>
          <a:bodyPr wrap="square" anchor="t"/>
          <a:lstStyle/>
          <a:p>
            <a:pPr algn="l"/>
            <a:r>
              <a:rPr lang="vi-VN" sz="1300">
                <a:solidFill>
                  <a:srgbClr val="475569"/>
                </a:solidFill>
                <a:latin typeface="Aptos"/>
              </a:rPr>
              <a:t>Xem đánh giá từ người đã mua, có thêm cơ sở trước khi quyết định mua hàng.</a:t>
            </a:r>
            <a:endParaRPr lang="vi-VN" sz="1300"/>
          </a:p>
        </p:txBody>
      </p:sp>
      <p:sp>
        <p:nvSpPr>
          <p:cNvPr id="28" name="Shape 28"/>
          <p:cNvSpPr/>
          <p:nvPr/>
        </p:nvSpPr>
        <p:spPr>
          <a:xfrm>
            <a:off x="8046720" y="1417320"/>
            <a:ext cx="3474720" cy="1417320"/>
          </a:xfrm>
          <a:prstGeom prst="roundRect">
            <a:avLst/>
          </a:prstGeom>
          <a:solidFill>
            <a:srgbClr val="FFFFFF"/>
          </a:solidFill>
          <a:ln w="9525">
            <a:solidFill>
              <a:srgbClr val="E2E8F0"/>
            </a:solidFill>
          </a:ln>
        </p:spPr>
        <p:txBody>
          <a:bodyPr/>
          <a:lstStyle/>
          <a:p/>
        </p:txBody>
      </p:sp>
      <p:sp>
        <p:nvSpPr>
          <p:cNvPr id="29" name="Shape 29"/>
          <p:cNvSpPr/>
          <p:nvPr/>
        </p:nvSpPr>
        <p:spPr>
          <a:xfrm>
            <a:off x="8046720" y="1417320"/>
            <a:ext cx="73152" cy="1417320"/>
          </a:xfrm>
          <a:prstGeom prst="rect">
            <a:avLst/>
          </a:prstGeom>
          <a:solidFill>
            <a:srgbClr val="F97316"/>
          </a:solidFill>
          <a:ln w="9525">
            <a:solidFill>
              <a:srgbClr val="F97316"/>
            </a:solidFill>
          </a:ln>
        </p:spPr>
        <p:txBody>
          <a:bodyPr/>
          <a:lstStyle/>
          <a:p/>
        </p:txBody>
      </p:sp>
      <p:sp>
        <p:nvSpPr>
          <p:cNvPr id="30" name="TextBox 30"/>
          <p:cNvSpPr txBox="1"/>
          <p:nvPr/>
        </p:nvSpPr>
        <p:spPr>
          <a:xfrm>
            <a:off x="8275320" y="1581912"/>
            <a:ext cx="3063239" cy="320040"/>
          </a:xfrm>
          <a:prstGeom prst="rect">
            <a:avLst/>
          </a:prstGeom>
          <a:noFill/>
          <a:ln>
            <a:noFill/>
          </a:ln>
        </p:spPr>
        <p:txBody>
          <a:bodyPr wrap="square" anchor="t"/>
          <a:lstStyle/>
          <a:p>
            <a:pPr algn="l"/>
            <a:r>
              <a:rPr lang="vi-VN" sz="1600" b="1">
                <a:solidFill>
                  <a:srgbClr val="0F172A"/>
                </a:solidFill>
                <a:latin typeface="Aptos"/>
              </a:rPr>
              <a:t>Chống giả</a:t>
            </a:r>
            <a:endParaRPr lang="vi-VN" sz="1600"/>
          </a:p>
        </p:txBody>
      </p:sp>
      <p:sp>
        <p:nvSpPr>
          <p:cNvPr id="31" name="TextBox 31"/>
          <p:cNvSpPr txBox="1"/>
          <p:nvPr/>
        </p:nvSpPr>
        <p:spPr>
          <a:xfrm>
            <a:off x="8275320" y="1984248"/>
            <a:ext cx="3063239" cy="777240"/>
          </a:xfrm>
          <a:prstGeom prst="rect">
            <a:avLst/>
          </a:prstGeom>
          <a:noFill/>
          <a:ln>
            <a:noFill/>
          </a:ln>
        </p:spPr>
        <p:txBody>
          <a:bodyPr wrap="square" anchor="t"/>
          <a:lstStyle/>
          <a:p>
            <a:pPr algn="l"/>
            <a:r>
              <a:rPr lang="vi-VN" sz="1300">
                <a:solidFill>
                  <a:srgbClr val="475569"/>
                </a:solidFill>
                <a:latin typeface="Aptos"/>
              </a:rPr>
              <a:t>Serial tờ tiền được đăng ký và gắn duy nhất với từng sản phẩm để phát hiện dùng lại hoặc không khớp.</a:t>
            </a:r>
            <a:endParaRPr lang="vi-VN" sz="1300"/>
          </a:p>
        </p:txBody>
      </p:sp>
      <p:sp>
        <p:nvSpPr>
          <p:cNvPr id="32" name="Shape 32"/>
          <p:cNvSpPr/>
          <p:nvPr/>
        </p:nvSpPr>
        <p:spPr>
          <a:xfrm>
            <a:off x="731520" y="3291840"/>
            <a:ext cx="5303520" cy="1325880"/>
          </a:xfrm>
          <a:prstGeom prst="roundRect">
            <a:avLst/>
          </a:prstGeom>
          <a:solidFill>
            <a:srgbClr val="DCFCE7"/>
          </a:solidFill>
          <a:ln w="9525">
            <a:solidFill>
              <a:srgbClr val="E2E8F0"/>
            </a:solidFill>
          </a:ln>
        </p:spPr>
        <p:txBody>
          <a:bodyPr/>
          <a:lstStyle/>
          <a:p/>
        </p:txBody>
      </p:sp>
      <p:sp>
        <p:nvSpPr>
          <p:cNvPr id="33" name="Shape 33"/>
          <p:cNvSpPr/>
          <p:nvPr/>
        </p:nvSpPr>
        <p:spPr>
          <a:xfrm>
            <a:off x="731520" y="3291840"/>
            <a:ext cx="73152" cy="1325880"/>
          </a:xfrm>
          <a:prstGeom prst="rect">
            <a:avLst/>
          </a:prstGeom>
          <a:solidFill>
            <a:srgbClr val="16A34A"/>
          </a:solidFill>
          <a:ln w="9525">
            <a:solidFill>
              <a:srgbClr val="16A34A"/>
            </a:solidFill>
          </a:ln>
        </p:spPr>
        <p:txBody>
          <a:bodyPr/>
          <a:lstStyle/>
          <a:p/>
        </p:txBody>
      </p:sp>
      <p:sp>
        <p:nvSpPr>
          <p:cNvPr id="34" name="TextBox 34"/>
          <p:cNvSpPr txBox="1"/>
          <p:nvPr/>
        </p:nvSpPr>
        <p:spPr>
          <a:xfrm>
            <a:off x="960120" y="3456432"/>
            <a:ext cx="4892040" cy="320040"/>
          </a:xfrm>
          <a:prstGeom prst="rect">
            <a:avLst/>
          </a:prstGeom>
          <a:noFill/>
          <a:ln>
            <a:noFill/>
          </a:ln>
        </p:spPr>
        <p:txBody>
          <a:bodyPr wrap="square" anchor="t"/>
          <a:lstStyle/>
          <a:p>
            <a:pPr algn="l"/>
            <a:r>
              <a:rPr lang="vi-VN" sz="1600" b="1">
                <a:solidFill>
                  <a:srgbClr val="0F172A"/>
                </a:solidFill>
                <a:latin typeface="Aptos"/>
              </a:rPr>
              <a:t>Doanh nghiệp</a:t>
            </a:r>
            <a:endParaRPr lang="vi-VN" sz="1600"/>
          </a:p>
        </p:txBody>
      </p:sp>
      <p:sp>
        <p:nvSpPr>
          <p:cNvPr id="35" name="TextBox 35"/>
          <p:cNvSpPr txBox="1"/>
          <p:nvPr/>
        </p:nvSpPr>
        <p:spPr>
          <a:xfrm>
            <a:off x="960120" y="3858768"/>
            <a:ext cx="4892040" cy="685800"/>
          </a:xfrm>
          <a:prstGeom prst="rect">
            <a:avLst/>
          </a:prstGeom>
          <a:noFill/>
          <a:ln>
            <a:noFill/>
          </a:ln>
        </p:spPr>
        <p:txBody>
          <a:bodyPr wrap="square" anchor="t"/>
          <a:lstStyle/>
          <a:p>
            <a:pPr algn="l"/>
            <a:r>
              <a:rPr lang="vi-VN" sz="1300">
                <a:solidFill>
                  <a:srgbClr val="475569"/>
                </a:solidFill>
                <a:latin typeface="Aptos"/>
              </a:rPr>
              <a:t>Theo dõi chuỗi nguyên liệu, sản xuất, đóng gói, đơn hàng và vận chuyển theo từng vai trò.</a:t>
            </a:r>
            <a:endParaRPr lang="vi-VN" sz="1300"/>
          </a:p>
        </p:txBody>
      </p:sp>
      <p:sp>
        <p:nvSpPr>
          <p:cNvPr id="36" name="Shape 36"/>
          <p:cNvSpPr/>
          <p:nvPr/>
        </p:nvSpPr>
        <p:spPr>
          <a:xfrm>
            <a:off x="6263640" y="3291840"/>
            <a:ext cx="5257800" cy="1325880"/>
          </a:xfrm>
          <a:prstGeom prst="roundRect">
            <a:avLst/>
          </a:prstGeom>
          <a:solidFill>
            <a:srgbClr val="DBEAFE"/>
          </a:solidFill>
          <a:ln w="9525">
            <a:solidFill>
              <a:srgbClr val="E2E8F0"/>
            </a:solidFill>
          </a:ln>
        </p:spPr>
        <p:txBody>
          <a:bodyPr/>
          <a:lstStyle/>
          <a:p/>
        </p:txBody>
      </p:sp>
      <p:sp>
        <p:nvSpPr>
          <p:cNvPr id="37" name="Shape 37"/>
          <p:cNvSpPr/>
          <p:nvPr/>
        </p:nvSpPr>
        <p:spPr>
          <a:xfrm>
            <a:off x="6263640" y="3291840"/>
            <a:ext cx="73152" cy="1325880"/>
          </a:xfrm>
          <a:prstGeom prst="rect">
            <a:avLst/>
          </a:prstGeom>
          <a:solidFill>
            <a:srgbClr val="2563EB"/>
          </a:solidFill>
          <a:ln w="9525">
            <a:solidFill>
              <a:srgbClr val="2563EB"/>
            </a:solidFill>
          </a:ln>
        </p:spPr>
        <p:txBody>
          <a:bodyPr/>
          <a:lstStyle/>
          <a:p/>
        </p:txBody>
      </p:sp>
      <p:sp>
        <p:nvSpPr>
          <p:cNvPr id="38" name="TextBox 38"/>
          <p:cNvSpPr txBox="1"/>
          <p:nvPr/>
        </p:nvSpPr>
        <p:spPr>
          <a:xfrm>
            <a:off x="6492240" y="3456432"/>
            <a:ext cx="4846320" cy="320040"/>
          </a:xfrm>
          <a:prstGeom prst="rect">
            <a:avLst/>
          </a:prstGeom>
          <a:noFill/>
          <a:ln>
            <a:noFill/>
          </a:ln>
        </p:spPr>
        <p:txBody>
          <a:bodyPr wrap="square" anchor="t"/>
          <a:lstStyle/>
          <a:p>
            <a:pPr algn="l"/>
            <a:r>
              <a:rPr lang="vi-VN" sz="1600" b="1">
                <a:solidFill>
                  <a:srgbClr val="0F172A"/>
                </a:solidFill>
                <a:latin typeface="Aptos"/>
              </a:rPr>
              <a:t>Dữ liệu</a:t>
            </a:r>
            <a:endParaRPr lang="vi-VN" sz="1600"/>
          </a:p>
        </p:txBody>
      </p:sp>
      <p:sp>
        <p:nvSpPr>
          <p:cNvPr id="39" name="TextBox 39"/>
          <p:cNvSpPr txBox="1"/>
          <p:nvPr/>
        </p:nvSpPr>
        <p:spPr>
          <a:xfrm>
            <a:off x="6492240" y="3858768"/>
            <a:ext cx="4846320" cy="685800"/>
          </a:xfrm>
          <a:prstGeom prst="rect">
            <a:avLst/>
          </a:prstGeom>
          <a:noFill/>
          <a:ln>
            <a:noFill/>
          </a:ln>
        </p:spPr>
        <p:txBody>
          <a:bodyPr wrap="square" anchor="t"/>
          <a:lstStyle/>
          <a:p>
            <a:pPr algn="l"/>
            <a:r>
              <a:rPr lang="vi-VN" sz="1300">
                <a:solidFill>
                  <a:srgbClr val="475569"/>
                </a:solidFill>
                <a:latin typeface="Aptos"/>
              </a:rPr>
              <a:t>Hash dữ liệu quan trọng được neo lên blockchain, hỗ trợ phát hiện thay đổi bất thường.</a:t>
            </a:r>
            <a:endParaRPr lang="vi-VN" sz="1300"/>
          </a:p>
        </p:txBody>
      </p:sp>
      <p:sp>
        <p:nvSpPr>
          <p:cNvPr id="40" name="TextBox 40"/>
          <p:cNvSpPr txBox="1"/>
          <p:nvPr/>
        </p:nvSpPr>
        <p:spPr>
          <a:xfrm>
            <a:off x="749808" y="5623560"/>
            <a:ext cx="10515600" cy="411480"/>
          </a:xfrm>
          <a:prstGeom prst="rect">
            <a:avLst/>
          </a:prstGeom>
          <a:noFill/>
          <a:ln>
            <a:noFill/>
          </a:ln>
        </p:spPr>
        <p:txBody>
          <a:bodyPr wrap="square" anchor="t"/>
          <a:lstStyle/>
          <a:p>
            <a:pPr algn="ctr"/>
            <a:r>
              <a:rPr lang="vi-VN" sz="1800" b="1">
                <a:solidFill>
                  <a:srgbClr val="0F172A"/>
                </a:solidFill>
                <a:latin typeface="Aptos"/>
              </a:rPr>
              <a:t>Mục tiêu chính: xây dựng hệ thống truy xuất nguồn gốc có thể dùng được, có kiểm chứng và phù hợp với bối cảnh đồ án.</a:t>
            </a:r>
            <a:endParaRPr lang="vi-VN"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502920" y="256032"/>
            <a:ext cx="9875520" cy="411480"/>
          </a:xfrm>
          <a:prstGeom prst="rect">
            <a:avLst/>
          </a:prstGeom>
          <a:noFill/>
          <a:ln>
            <a:noFill/>
          </a:ln>
        </p:spPr>
        <p:txBody>
          <a:bodyPr wrap="square" anchor="t"/>
          <a:lstStyle/>
          <a:p>
            <a:pPr algn="l"/>
            <a:r>
              <a:rPr lang="vi-VN" sz="2500" b="1">
                <a:solidFill>
                  <a:srgbClr val="0F172A"/>
                </a:solidFill>
                <a:latin typeface="Aptos"/>
              </a:rPr>
              <a:t>Phạm vi và tác nhân hệ thống</a:t>
            </a:r>
            <a:endParaRPr lang="vi-VN" sz="2500"/>
          </a:p>
        </p:txBody>
      </p:sp>
      <p:sp>
        <p:nvSpPr>
          <p:cNvPr id="3" name="TextBox 3"/>
          <p:cNvSpPr txBox="1"/>
          <p:nvPr/>
        </p:nvSpPr>
        <p:spPr>
          <a:xfrm>
            <a:off x="521207" y="713232"/>
            <a:ext cx="9601200" cy="292608"/>
          </a:xfrm>
          <a:prstGeom prst="rect">
            <a:avLst/>
          </a:prstGeom>
          <a:noFill/>
          <a:ln>
            <a:noFill/>
          </a:ln>
        </p:spPr>
        <p:txBody>
          <a:bodyPr wrap="square" anchor="t"/>
          <a:lstStyle/>
          <a:p>
            <a:pPr algn="l"/>
            <a:r>
              <a:rPr lang="vi-VN" sz="1200">
                <a:solidFill>
                  <a:srgbClr val="475569"/>
                </a:solidFill>
                <a:latin typeface="Aptos"/>
              </a:rPr>
              <a:t>Hệ thống có nhiều vai trò, mỗi vai trò đảm nhiệm một phần trong chuỗi cung ứng</a:t>
            </a:r>
            <a:endParaRPr lang="vi-VN" sz="1200"/>
          </a:p>
        </p:txBody>
      </p:sp>
      <p:sp>
        <p:nvSpPr>
          <p:cNvPr id="4" name="Shape 4"/>
          <p:cNvSpPr/>
          <p:nvPr/>
        </p:nvSpPr>
        <p:spPr>
          <a:xfrm>
            <a:off x="502920" y="1024128"/>
            <a:ext cx="1051560" cy="45720"/>
          </a:xfrm>
          <a:prstGeom prst="rect">
            <a:avLst/>
          </a:prstGeom>
          <a:solidFill>
            <a:srgbClr val="2563EB"/>
          </a:solidFill>
          <a:ln w="9525">
            <a:solidFill>
              <a:srgbClr val="2563EB"/>
            </a:solidFill>
          </a:ln>
        </p:spPr>
        <p:txBody>
          <a:bodyPr/>
          <a:lstStyle/>
          <a:p/>
        </p:txBody>
      </p:sp>
      <p:sp>
        <p:nvSpPr>
          <p:cNvPr id="20" name="Shape 20"/>
          <p:cNvSpPr/>
          <p:nvPr/>
        </p:nvSpPr>
        <p:spPr>
          <a:xfrm>
            <a:off x="685800" y="1508760"/>
            <a:ext cx="3337560" cy="1417320"/>
          </a:xfrm>
          <a:prstGeom prst="roundRect">
            <a:avLst/>
          </a:prstGeom>
          <a:solidFill>
            <a:srgbClr val="FFFFFF"/>
          </a:solidFill>
          <a:ln w="9525">
            <a:solidFill>
              <a:srgbClr val="E2E8F0"/>
            </a:solidFill>
          </a:ln>
        </p:spPr>
        <p:txBody>
          <a:bodyPr/>
          <a:lstStyle/>
          <a:p/>
        </p:txBody>
      </p:sp>
      <p:sp>
        <p:nvSpPr>
          <p:cNvPr id="21" name="Shape 21"/>
          <p:cNvSpPr/>
          <p:nvPr/>
        </p:nvSpPr>
        <p:spPr>
          <a:xfrm>
            <a:off x="685800" y="1508760"/>
            <a:ext cx="73152" cy="1417320"/>
          </a:xfrm>
          <a:prstGeom prst="rect">
            <a:avLst/>
          </a:prstGeom>
          <a:solidFill>
            <a:srgbClr val="2563EB"/>
          </a:solidFill>
          <a:ln w="9525">
            <a:solidFill>
              <a:srgbClr val="2563EB"/>
            </a:solidFill>
          </a:ln>
        </p:spPr>
        <p:txBody>
          <a:bodyPr/>
          <a:lstStyle/>
          <a:p/>
        </p:txBody>
      </p:sp>
      <p:sp>
        <p:nvSpPr>
          <p:cNvPr id="22" name="TextBox 22"/>
          <p:cNvSpPr txBox="1"/>
          <p:nvPr/>
        </p:nvSpPr>
        <p:spPr>
          <a:xfrm>
            <a:off x="914400" y="1673351"/>
            <a:ext cx="2926079" cy="320040"/>
          </a:xfrm>
          <a:prstGeom prst="rect">
            <a:avLst/>
          </a:prstGeom>
          <a:noFill/>
          <a:ln>
            <a:noFill/>
          </a:ln>
        </p:spPr>
        <p:txBody>
          <a:bodyPr wrap="square" anchor="t"/>
          <a:lstStyle/>
          <a:p>
            <a:pPr algn="l"/>
            <a:r>
              <a:rPr lang="vi-VN" sz="1600" b="1">
                <a:solidFill>
                  <a:srgbClr val="0F172A"/>
                </a:solidFill>
                <a:latin typeface="Aptos"/>
              </a:rPr>
              <a:t>Admin</a:t>
            </a:r>
            <a:endParaRPr lang="vi-VN" sz="1600"/>
          </a:p>
        </p:txBody>
      </p:sp>
      <p:sp>
        <p:nvSpPr>
          <p:cNvPr id="23" name="TextBox 23"/>
          <p:cNvSpPr txBox="1"/>
          <p:nvPr/>
        </p:nvSpPr>
        <p:spPr>
          <a:xfrm>
            <a:off x="914400" y="2075688"/>
            <a:ext cx="2926079" cy="777240"/>
          </a:xfrm>
          <a:prstGeom prst="rect">
            <a:avLst/>
          </a:prstGeom>
          <a:noFill/>
          <a:ln>
            <a:noFill/>
          </a:ln>
        </p:spPr>
        <p:txBody>
          <a:bodyPr wrap="square" anchor="t"/>
          <a:lstStyle/>
          <a:p>
            <a:pPr algn="l"/>
            <a:r>
              <a:rPr lang="vi-VN" sz="1300">
                <a:solidFill>
                  <a:srgbClr val="475569"/>
                </a:solidFill>
                <a:latin typeface="Aptos"/>
              </a:rPr>
              <a:t>Duyệt vai trò,</a:t>
            </a:r>
            <a:endParaRPr lang="vi-VN" sz="1300"/>
          </a:p>
          <a:p>
            <a:pPr algn="l"/>
            <a:r>
              <a:rPr lang="vi-VN" sz="1300">
                <a:solidFill>
                  <a:srgbClr val="475569"/>
                </a:solidFill>
                <a:latin typeface="Aptos"/>
              </a:rPr>
              <a:t>quản lý hệ thống</a:t>
            </a:r>
            <a:endParaRPr lang="vi-VN" sz="1300"/>
          </a:p>
        </p:txBody>
      </p:sp>
      <p:sp>
        <p:nvSpPr>
          <p:cNvPr id="24" name="Shape 24"/>
          <p:cNvSpPr/>
          <p:nvPr/>
        </p:nvSpPr>
        <p:spPr>
          <a:xfrm>
            <a:off x="4480560" y="1508760"/>
            <a:ext cx="3337560" cy="1417320"/>
          </a:xfrm>
          <a:prstGeom prst="roundRect">
            <a:avLst/>
          </a:prstGeom>
          <a:solidFill>
            <a:srgbClr val="FFFFFF"/>
          </a:solidFill>
          <a:ln w="9525">
            <a:solidFill>
              <a:srgbClr val="E2E8F0"/>
            </a:solidFill>
          </a:ln>
        </p:spPr>
        <p:txBody>
          <a:bodyPr/>
          <a:lstStyle/>
          <a:p/>
        </p:txBody>
      </p:sp>
      <p:sp>
        <p:nvSpPr>
          <p:cNvPr id="25" name="Shape 25"/>
          <p:cNvSpPr/>
          <p:nvPr/>
        </p:nvSpPr>
        <p:spPr>
          <a:xfrm>
            <a:off x="4480560" y="1508760"/>
            <a:ext cx="73152" cy="1417320"/>
          </a:xfrm>
          <a:prstGeom prst="rect">
            <a:avLst/>
          </a:prstGeom>
          <a:solidFill>
            <a:srgbClr val="16A34A"/>
          </a:solidFill>
          <a:ln w="9525">
            <a:solidFill>
              <a:srgbClr val="16A34A"/>
            </a:solidFill>
          </a:ln>
        </p:spPr>
        <p:txBody>
          <a:bodyPr/>
          <a:lstStyle/>
          <a:p/>
        </p:txBody>
      </p:sp>
      <p:sp>
        <p:nvSpPr>
          <p:cNvPr id="26" name="TextBox 26"/>
          <p:cNvSpPr txBox="1"/>
          <p:nvPr/>
        </p:nvSpPr>
        <p:spPr>
          <a:xfrm>
            <a:off x="4709160" y="1673351"/>
            <a:ext cx="2926079" cy="320040"/>
          </a:xfrm>
          <a:prstGeom prst="rect">
            <a:avLst/>
          </a:prstGeom>
          <a:noFill/>
          <a:ln>
            <a:noFill/>
          </a:ln>
        </p:spPr>
        <p:txBody>
          <a:bodyPr wrap="square" anchor="t"/>
          <a:lstStyle/>
          <a:p>
            <a:pPr algn="l"/>
            <a:r>
              <a:rPr lang="vi-VN" sz="1600" b="1">
                <a:solidFill>
                  <a:srgbClr val="0F172A"/>
                </a:solidFill>
                <a:latin typeface="Aptos"/>
              </a:rPr>
              <a:t>Supplier</a:t>
            </a:r>
            <a:endParaRPr lang="vi-VN" sz="1600"/>
          </a:p>
        </p:txBody>
      </p:sp>
      <p:sp>
        <p:nvSpPr>
          <p:cNvPr id="27" name="TextBox 27"/>
          <p:cNvSpPr txBox="1"/>
          <p:nvPr/>
        </p:nvSpPr>
        <p:spPr>
          <a:xfrm>
            <a:off x="4709160" y="2075688"/>
            <a:ext cx="2926079" cy="777240"/>
          </a:xfrm>
          <a:prstGeom prst="rect">
            <a:avLst/>
          </a:prstGeom>
          <a:noFill/>
          <a:ln>
            <a:noFill/>
          </a:ln>
        </p:spPr>
        <p:txBody>
          <a:bodyPr wrap="square" anchor="t"/>
          <a:lstStyle/>
          <a:p>
            <a:pPr algn="l"/>
            <a:r>
              <a:rPr lang="vi-VN" sz="1300">
                <a:solidFill>
                  <a:srgbClr val="475569"/>
                </a:solidFill>
                <a:latin typeface="Aptos"/>
              </a:rPr>
              <a:t>Quản lý nguyên liệu,</a:t>
            </a:r>
            <a:endParaRPr lang="vi-VN" sz="1300"/>
          </a:p>
          <a:p>
            <a:pPr algn="l"/>
            <a:r>
              <a:rPr lang="vi-VN" sz="1300">
                <a:solidFill>
                  <a:srgbClr val="475569"/>
                </a:solidFill>
                <a:latin typeface="Aptos"/>
              </a:rPr>
              <a:t>tạo raw batch</a:t>
            </a:r>
            <a:endParaRPr lang="vi-VN" sz="1300"/>
          </a:p>
        </p:txBody>
      </p:sp>
      <p:sp>
        <p:nvSpPr>
          <p:cNvPr id="28" name="Shape 28"/>
          <p:cNvSpPr/>
          <p:nvPr/>
        </p:nvSpPr>
        <p:spPr>
          <a:xfrm>
            <a:off x="8275320" y="1508760"/>
            <a:ext cx="3337560" cy="1417320"/>
          </a:xfrm>
          <a:prstGeom prst="roundRect">
            <a:avLst/>
          </a:prstGeom>
          <a:solidFill>
            <a:srgbClr val="FFFFFF"/>
          </a:solidFill>
          <a:ln w="9525">
            <a:solidFill>
              <a:srgbClr val="E2E8F0"/>
            </a:solidFill>
          </a:ln>
        </p:spPr>
        <p:txBody>
          <a:bodyPr/>
          <a:lstStyle/>
          <a:p/>
        </p:txBody>
      </p:sp>
      <p:sp>
        <p:nvSpPr>
          <p:cNvPr id="29" name="Shape 29"/>
          <p:cNvSpPr/>
          <p:nvPr/>
        </p:nvSpPr>
        <p:spPr>
          <a:xfrm>
            <a:off x="8275320" y="1508760"/>
            <a:ext cx="73152" cy="1417320"/>
          </a:xfrm>
          <a:prstGeom prst="rect">
            <a:avLst/>
          </a:prstGeom>
          <a:solidFill>
            <a:srgbClr val="F97316"/>
          </a:solidFill>
          <a:ln w="9525">
            <a:solidFill>
              <a:srgbClr val="F97316"/>
            </a:solidFill>
          </a:ln>
        </p:spPr>
        <p:txBody>
          <a:bodyPr/>
          <a:lstStyle/>
          <a:p/>
        </p:txBody>
      </p:sp>
      <p:sp>
        <p:nvSpPr>
          <p:cNvPr id="30" name="TextBox 30"/>
          <p:cNvSpPr txBox="1"/>
          <p:nvPr/>
        </p:nvSpPr>
        <p:spPr>
          <a:xfrm>
            <a:off x="8503920" y="1673351"/>
            <a:ext cx="2926079" cy="320040"/>
          </a:xfrm>
          <a:prstGeom prst="rect">
            <a:avLst/>
          </a:prstGeom>
          <a:noFill/>
          <a:ln>
            <a:noFill/>
          </a:ln>
        </p:spPr>
        <p:txBody>
          <a:bodyPr wrap="square" anchor="t"/>
          <a:lstStyle/>
          <a:p>
            <a:pPr algn="l"/>
            <a:r>
              <a:rPr lang="vi-VN" sz="1600" b="1">
                <a:solidFill>
                  <a:srgbClr val="0F172A"/>
                </a:solidFill>
                <a:latin typeface="Aptos"/>
              </a:rPr>
              <a:t>Manufacturer</a:t>
            </a:r>
            <a:endParaRPr lang="vi-VN" sz="1600"/>
          </a:p>
        </p:txBody>
      </p:sp>
      <p:sp>
        <p:nvSpPr>
          <p:cNvPr id="31" name="TextBox 31"/>
          <p:cNvSpPr txBox="1"/>
          <p:nvPr/>
        </p:nvSpPr>
        <p:spPr>
          <a:xfrm>
            <a:off x="8503920" y="2075688"/>
            <a:ext cx="2926079" cy="777240"/>
          </a:xfrm>
          <a:prstGeom prst="rect">
            <a:avLst/>
          </a:prstGeom>
          <a:noFill/>
          <a:ln>
            <a:noFill/>
          </a:ln>
        </p:spPr>
        <p:txBody>
          <a:bodyPr wrap="square" anchor="t"/>
          <a:lstStyle/>
          <a:p>
            <a:pPr algn="l"/>
            <a:r>
              <a:rPr lang="vi-VN" sz="1300">
                <a:solidFill>
                  <a:srgbClr val="475569"/>
                </a:solidFill>
                <a:latin typeface="Aptos"/>
              </a:rPr>
              <a:t>Sản xuất, đóng gói,</a:t>
            </a:r>
            <a:endParaRPr lang="vi-VN" sz="1300"/>
          </a:p>
          <a:p>
            <a:pPr algn="l"/>
            <a:r>
              <a:rPr lang="vi-VN" sz="1300">
                <a:solidFill>
                  <a:srgbClr val="475569"/>
                </a:solidFill>
                <a:latin typeface="Aptos"/>
              </a:rPr>
              <a:t>đăng ký serial</a:t>
            </a:r>
            <a:endParaRPr lang="vi-VN" sz="1300"/>
          </a:p>
        </p:txBody>
      </p:sp>
      <p:sp>
        <p:nvSpPr>
          <p:cNvPr id="32" name="Shape 32"/>
          <p:cNvSpPr/>
          <p:nvPr/>
        </p:nvSpPr>
        <p:spPr>
          <a:xfrm>
            <a:off x="685800" y="3383279"/>
            <a:ext cx="3337560" cy="1417320"/>
          </a:xfrm>
          <a:prstGeom prst="roundRect">
            <a:avLst/>
          </a:prstGeom>
          <a:solidFill>
            <a:srgbClr val="FFFFFF"/>
          </a:solidFill>
          <a:ln w="9525">
            <a:solidFill>
              <a:srgbClr val="E2E8F0"/>
            </a:solidFill>
          </a:ln>
        </p:spPr>
        <p:txBody>
          <a:bodyPr/>
          <a:lstStyle/>
          <a:p/>
        </p:txBody>
      </p:sp>
      <p:sp>
        <p:nvSpPr>
          <p:cNvPr id="33" name="Shape 33"/>
          <p:cNvSpPr/>
          <p:nvPr/>
        </p:nvSpPr>
        <p:spPr>
          <a:xfrm>
            <a:off x="685800" y="3383279"/>
            <a:ext cx="73152" cy="1417320"/>
          </a:xfrm>
          <a:prstGeom prst="rect">
            <a:avLst/>
          </a:prstGeom>
          <a:solidFill>
            <a:srgbClr val="2563EB"/>
          </a:solidFill>
          <a:ln w="9525">
            <a:solidFill>
              <a:srgbClr val="2563EB"/>
            </a:solidFill>
          </a:ln>
        </p:spPr>
        <p:txBody>
          <a:bodyPr/>
          <a:lstStyle/>
          <a:p/>
        </p:txBody>
      </p:sp>
      <p:sp>
        <p:nvSpPr>
          <p:cNvPr id="34" name="TextBox 34"/>
          <p:cNvSpPr txBox="1"/>
          <p:nvPr/>
        </p:nvSpPr>
        <p:spPr>
          <a:xfrm>
            <a:off x="914400" y="3547872"/>
            <a:ext cx="2926079" cy="320040"/>
          </a:xfrm>
          <a:prstGeom prst="rect">
            <a:avLst/>
          </a:prstGeom>
          <a:noFill/>
          <a:ln>
            <a:noFill/>
          </a:ln>
        </p:spPr>
        <p:txBody>
          <a:bodyPr wrap="square" anchor="t"/>
          <a:lstStyle/>
          <a:p>
            <a:pPr algn="l"/>
            <a:r>
              <a:rPr lang="vi-VN" sz="1600" b="1">
                <a:solidFill>
                  <a:srgbClr val="0F172A"/>
                </a:solidFill>
                <a:latin typeface="Aptos"/>
              </a:rPr>
              <a:t>Retailer</a:t>
            </a:r>
            <a:endParaRPr lang="vi-VN" sz="1600"/>
          </a:p>
        </p:txBody>
      </p:sp>
      <p:sp>
        <p:nvSpPr>
          <p:cNvPr id="35" name="TextBox 35"/>
          <p:cNvSpPr txBox="1"/>
          <p:nvPr/>
        </p:nvSpPr>
        <p:spPr>
          <a:xfrm>
            <a:off x="914400" y="3950207"/>
            <a:ext cx="2926079" cy="777240"/>
          </a:xfrm>
          <a:prstGeom prst="rect">
            <a:avLst/>
          </a:prstGeom>
          <a:noFill/>
          <a:ln>
            <a:noFill/>
          </a:ln>
        </p:spPr>
        <p:txBody>
          <a:bodyPr wrap="square" anchor="t"/>
          <a:lstStyle/>
          <a:p>
            <a:pPr algn="l"/>
            <a:r>
              <a:rPr lang="vi-VN" sz="1300">
                <a:solidFill>
                  <a:srgbClr val="475569"/>
                </a:solidFill>
                <a:latin typeface="Aptos"/>
              </a:rPr>
              <a:t>Đặt hàng</a:t>
            </a:r>
            <a:endParaRPr lang="vi-VN" sz="1300"/>
          </a:p>
          <a:p>
            <a:pPr algn="l"/>
            <a:r>
              <a:rPr lang="vi-VN" sz="1300">
                <a:solidFill>
                  <a:srgbClr val="475569"/>
                </a:solidFill>
                <a:latin typeface="Aptos"/>
              </a:rPr>
              <a:t>thành phẩm</a:t>
            </a:r>
            <a:endParaRPr lang="vi-VN" sz="1300"/>
          </a:p>
        </p:txBody>
      </p:sp>
      <p:sp>
        <p:nvSpPr>
          <p:cNvPr id="36" name="Shape 36"/>
          <p:cNvSpPr/>
          <p:nvPr/>
        </p:nvSpPr>
        <p:spPr>
          <a:xfrm>
            <a:off x="4480560" y="3383279"/>
            <a:ext cx="3337560" cy="1417320"/>
          </a:xfrm>
          <a:prstGeom prst="roundRect">
            <a:avLst/>
          </a:prstGeom>
          <a:solidFill>
            <a:srgbClr val="FFFFFF"/>
          </a:solidFill>
          <a:ln w="9525">
            <a:solidFill>
              <a:srgbClr val="E2E8F0"/>
            </a:solidFill>
          </a:ln>
        </p:spPr>
        <p:txBody>
          <a:bodyPr/>
          <a:lstStyle/>
          <a:p/>
        </p:txBody>
      </p:sp>
      <p:sp>
        <p:nvSpPr>
          <p:cNvPr id="37" name="Shape 37"/>
          <p:cNvSpPr/>
          <p:nvPr/>
        </p:nvSpPr>
        <p:spPr>
          <a:xfrm>
            <a:off x="4480560" y="3383279"/>
            <a:ext cx="73152" cy="1417320"/>
          </a:xfrm>
          <a:prstGeom prst="rect">
            <a:avLst/>
          </a:prstGeom>
          <a:solidFill>
            <a:srgbClr val="16A34A"/>
          </a:solidFill>
          <a:ln w="9525">
            <a:solidFill>
              <a:srgbClr val="16A34A"/>
            </a:solidFill>
          </a:ln>
        </p:spPr>
        <p:txBody>
          <a:bodyPr/>
          <a:lstStyle/>
          <a:p/>
        </p:txBody>
      </p:sp>
      <p:sp>
        <p:nvSpPr>
          <p:cNvPr id="38" name="TextBox 38"/>
          <p:cNvSpPr txBox="1"/>
          <p:nvPr/>
        </p:nvSpPr>
        <p:spPr>
          <a:xfrm>
            <a:off x="4709160" y="3547872"/>
            <a:ext cx="2926079" cy="320040"/>
          </a:xfrm>
          <a:prstGeom prst="rect">
            <a:avLst/>
          </a:prstGeom>
          <a:noFill/>
          <a:ln>
            <a:noFill/>
          </a:ln>
        </p:spPr>
        <p:txBody>
          <a:bodyPr wrap="square" anchor="t"/>
          <a:lstStyle/>
          <a:p>
            <a:pPr algn="l"/>
            <a:r>
              <a:rPr lang="vi-VN" sz="1600" b="1">
                <a:solidFill>
                  <a:srgbClr val="0F172A"/>
                </a:solidFill>
                <a:latin typeface="Aptos"/>
              </a:rPr>
              <a:t>Transporter</a:t>
            </a:r>
            <a:endParaRPr lang="vi-VN" sz="1600"/>
          </a:p>
        </p:txBody>
      </p:sp>
      <p:sp>
        <p:nvSpPr>
          <p:cNvPr id="39" name="TextBox 39"/>
          <p:cNvSpPr txBox="1"/>
          <p:nvPr/>
        </p:nvSpPr>
        <p:spPr>
          <a:xfrm>
            <a:off x="4709160" y="3950207"/>
            <a:ext cx="2926079" cy="777240"/>
          </a:xfrm>
          <a:prstGeom prst="rect">
            <a:avLst/>
          </a:prstGeom>
          <a:noFill/>
          <a:ln>
            <a:noFill/>
          </a:ln>
        </p:spPr>
        <p:txBody>
          <a:bodyPr wrap="square" anchor="t"/>
          <a:lstStyle/>
          <a:p>
            <a:pPr algn="l"/>
            <a:r>
              <a:rPr lang="vi-VN" sz="1300">
                <a:solidFill>
                  <a:srgbClr val="475569"/>
                </a:solidFill>
                <a:latin typeface="Aptos"/>
              </a:rPr>
              <a:t>Xác nhận lấy hàng</a:t>
            </a:r>
            <a:endParaRPr lang="vi-VN" sz="1300"/>
          </a:p>
          <a:p>
            <a:pPr algn="l"/>
            <a:r>
              <a:rPr lang="vi-VN" sz="1300">
                <a:solidFill>
                  <a:srgbClr val="475569"/>
                </a:solidFill>
                <a:latin typeface="Aptos"/>
              </a:rPr>
              <a:t>và giao hàng</a:t>
            </a:r>
            <a:endParaRPr lang="vi-VN" sz="1300"/>
          </a:p>
        </p:txBody>
      </p:sp>
      <p:sp>
        <p:nvSpPr>
          <p:cNvPr id="40" name="Shape 40"/>
          <p:cNvSpPr/>
          <p:nvPr/>
        </p:nvSpPr>
        <p:spPr>
          <a:xfrm>
            <a:off x="8275320" y="3383279"/>
            <a:ext cx="3337560" cy="1417320"/>
          </a:xfrm>
          <a:prstGeom prst="roundRect">
            <a:avLst/>
          </a:prstGeom>
          <a:solidFill>
            <a:srgbClr val="FFFFFF"/>
          </a:solidFill>
          <a:ln w="9525">
            <a:solidFill>
              <a:srgbClr val="E2E8F0"/>
            </a:solidFill>
          </a:ln>
        </p:spPr>
        <p:txBody>
          <a:bodyPr/>
          <a:lstStyle/>
          <a:p/>
        </p:txBody>
      </p:sp>
      <p:sp>
        <p:nvSpPr>
          <p:cNvPr id="41" name="Shape 41"/>
          <p:cNvSpPr/>
          <p:nvPr/>
        </p:nvSpPr>
        <p:spPr>
          <a:xfrm>
            <a:off x="8275320" y="3383279"/>
            <a:ext cx="73152" cy="1417320"/>
          </a:xfrm>
          <a:prstGeom prst="rect">
            <a:avLst/>
          </a:prstGeom>
          <a:solidFill>
            <a:srgbClr val="F97316"/>
          </a:solidFill>
          <a:ln w="9525">
            <a:solidFill>
              <a:srgbClr val="F97316"/>
            </a:solidFill>
          </a:ln>
        </p:spPr>
        <p:txBody>
          <a:bodyPr/>
          <a:lstStyle/>
          <a:p/>
        </p:txBody>
      </p:sp>
      <p:sp>
        <p:nvSpPr>
          <p:cNvPr id="42" name="TextBox 42"/>
          <p:cNvSpPr txBox="1"/>
          <p:nvPr/>
        </p:nvSpPr>
        <p:spPr>
          <a:xfrm>
            <a:off x="8503920" y="3547872"/>
            <a:ext cx="2926079" cy="320040"/>
          </a:xfrm>
          <a:prstGeom prst="rect">
            <a:avLst/>
          </a:prstGeom>
          <a:noFill/>
          <a:ln>
            <a:noFill/>
          </a:ln>
        </p:spPr>
        <p:txBody>
          <a:bodyPr wrap="square" anchor="t"/>
          <a:lstStyle/>
          <a:p>
            <a:pPr algn="l"/>
            <a:r>
              <a:rPr lang="vi-VN" sz="1600" b="1">
                <a:solidFill>
                  <a:srgbClr val="0F172A"/>
                </a:solidFill>
                <a:latin typeface="Aptos"/>
              </a:rPr>
              <a:t>User</a:t>
            </a:r>
            <a:endParaRPr lang="vi-VN" sz="1600"/>
          </a:p>
        </p:txBody>
      </p:sp>
      <p:sp>
        <p:nvSpPr>
          <p:cNvPr id="43" name="TextBox 43"/>
          <p:cNvSpPr txBox="1"/>
          <p:nvPr/>
        </p:nvSpPr>
        <p:spPr>
          <a:xfrm>
            <a:off x="8503920" y="3950207"/>
            <a:ext cx="2926079" cy="777240"/>
          </a:xfrm>
          <a:prstGeom prst="rect">
            <a:avLst/>
          </a:prstGeom>
          <a:noFill/>
          <a:ln>
            <a:noFill/>
          </a:ln>
        </p:spPr>
        <p:txBody>
          <a:bodyPr wrap="square" anchor="t"/>
          <a:lstStyle/>
          <a:p>
            <a:pPr algn="l"/>
            <a:r>
              <a:rPr lang="vi-VN" sz="1300">
                <a:solidFill>
                  <a:srgbClr val="475569"/>
                </a:solidFill>
                <a:latin typeface="Aptos"/>
              </a:rPr>
              <a:t>Quét truy xuất,</a:t>
            </a:r>
            <a:endParaRPr lang="vi-VN" sz="1300"/>
          </a:p>
          <a:p>
            <a:pPr algn="l"/>
            <a:r>
              <a:rPr lang="vi-VN" sz="1300">
                <a:solidFill>
                  <a:srgbClr val="475569"/>
                </a:solidFill>
                <a:latin typeface="Aptos"/>
              </a:rPr>
              <a:t>xem/đánh giá SP</a:t>
            </a:r>
            <a:endParaRPr lang="vi-VN" sz="1300"/>
          </a:p>
        </p:txBody>
      </p:sp>
      <p:sp>
        <p:nvSpPr>
          <p:cNvPr id="50" name="TextBox 50"/>
          <p:cNvSpPr txBox="1"/>
          <p:nvPr/>
        </p:nvSpPr>
        <p:spPr>
          <a:xfrm>
            <a:off x="749808" y="5532120"/>
            <a:ext cx="10789920" cy="457200"/>
          </a:xfrm>
          <a:prstGeom prst="rect">
            <a:avLst/>
          </a:prstGeom>
          <a:noFill/>
          <a:ln>
            <a:noFill/>
          </a:ln>
        </p:spPr>
        <p:txBody>
          <a:bodyPr wrap="square" anchor="t"/>
          <a:lstStyle/>
          <a:p>
            <a:pPr algn="ctr"/>
            <a:r>
              <a:rPr lang="vi-VN" sz="1600">
                <a:solidFill>
                  <a:srgbClr val="475569"/>
                </a:solidFill>
                <a:latin typeface="Aptos"/>
              </a:rPr>
              <a:t>Phạm vi triển khai: Web quản trị/nghiệp vụ, Mobile cho quét và tác vụ hiện trường, backend microservices và smart contract.</a:t>
            </a:r>
            <a:endParaRPr lang="vi-VN" sz="1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502920" y="256032"/>
            <a:ext cx="9875520" cy="411480"/>
          </a:xfrm>
          <a:prstGeom prst="rect">
            <a:avLst/>
          </a:prstGeom>
          <a:noFill/>
          <a:ln>
            <a:noFill/>
          </a:ln>
        </p:spPr>
        <p:txBody>
          <a:bodyPr wrap="square" anchor="t"/>
          <a:lstStyle/>
          <a:p>
            <a:pPr algn="l"/>
            <a:r>
              <a:rPr lang="vi-VN" sz="2500" b="1">
                <a:solidFill>
                  <a:srgbClr val="0F172A"/>
                </a:solidFill>
                <a:latin typeface="Aptos"/>
              </a:rPr>
              <a:t>Kiến trúc tổng thể</a:t>
            </a:r>
            <a:endParaRPr lang="vi-VN" sz="2500"/>
          </a:p>
        </p:txBody>
      </p:sp>
      <p:sp>
        <p:nvSpPr>
          <p:cNvPr id="3" name="TextBox 3"/>
          <p:cNvSpPr txBox="1"/>
          <p:nvPr/>
        </p:nvSpPr>
        <p:spPr>
          <a:xfrm>
            <a:off x="521207" y="713232"/>
            <a:ext cx="9601200" cy="292608"/>
          </a:xfrm>
          <a:prstGeom prst="rect">
            <a:avLst/>
          </a:prstGeom>
          <a:noFill/>
          <a:ln>
            <a:noFill/>
          </a:ln>
        </p:spPr>
        <p:txBody>
          <a:bodyPr wrap="square" anchor="t"/>
          <a:lstStyle/>
          <a:p>
            <a:pPr algn="l"/>
            <a:r>
              <a:rPr lang="vi-VN" sz="1200">
                <a:solidFill>
                  <a:srgbClr val="475569"/>
                </a:solidFill>
                <a:latin typeface="Aptos"/>
              </a:rPr>
              <a:t>Web/Mobile đi qua API Gateway, các service phối hợp bằng REST, Kafka và blockchain</a:t>
            </a:r>
            <a:endParaRPr lang="vi-VN" sz="1200"/>
          </a:p>
        </p:txBody>
      </p:sp>
      <p:sp>
        <p:nvSpPr>
          <p:cNvPr id="4" name="Shape 4"/>
          <p:cNvSpPr/>
          <p:nvPr/>
        </p:nvSpPr>
        <p:spPr>
          <a:xfrm>
            <a:off x="502920" y="1024128"/>
            <a:ext cx="1051560" cy="45720"/>
          </a:xfrm>
          <a:prstGeom prst="rect">
            <a:avLst/>
          </a:prstGeom>
          <a:solidFill>
            <a:srgbClr val="2563EB"/>
          </a:solidFill>
          <a:ln w="9525">
            <a:solidFill>
              <a:srgbClr val="2563EB"/>
            </a:solidFill>
          </a:ln>
        </p:spPr>
        <p:txBody>
          <a:bodyPr/>
          <a:lstStyle/>
          <a:p/>
        </p:txBody>
      </p:sp>
      <p:pic>
        <p:nvPicPr>
          <p:cNvPr id="20" name="Architecture"/>
          <p:cNvPicPr/>
          <p:nvPr/>
        </p:nvPicPr>
        <p:blipFill>
          <a:blip r:embed="rId1"/>
          <a:stretch>
            <a:fillRect/>
          </a:stretch>
        </p:blipFill>
        <p:spPr>
          <a:xfrm>
            <a:off x="685800" y="1280160"/>
            <a:ext cx="7315200" cy="4114800"/>
          </a:xfrm>
          <a:prstGeom prst="rect">
            <a:avLst/>
          </a:prstGeom>
          <a:ln w="9525">
            <a:solidFill>
              <a:srgbClr val="E2E8F0"/>
            </a:solidFill>
          </a:ln>
        </p:spPr>
      </p:pic>
      <p:sp>
        <p:nvSpPr>
          <p:cNvPr id="21" name="Shape 21"/>
          <p:cNvSpPr/>
          <p:nvPr/>
        </p:nvSpPr>
        <p:spPr>
          <a:xfrm>
            <a:off x="8275320" y="1325880"/>
            <a:ext cx="3246120" cy="1097280"/>
          </a:xfrm>
          <a:prstGeom prst="roundRect">
            <a:avLst/>
          </a:prstGeom>
          <a:solidFill>
            <a:srgbClr val="FFFFFF"/>
          </a:solidFill>
          <a:ln w="9525">
            <a:solidFill>
              <a:srgbClr val="E2E8F0"/>
            </a:solidFill>
          </a:ln>
        </p:spPr>
        <p:txBody>
          <a:bodyPr/>
          <a:lstStyle/>
          <a:p/>
        </p:txBody>
      </p:sp>
      <p:sp>
        <p:nvSpPr>
          <p:cNvPr id="22" name="Shape 22"/>
          <p:cNvSpPr/>
          <p:nvPr/>
        </p:nvSpPr>
        <p:spPr>
          <a:xfrm>
            <a:off x="8275320" y="1325880"/>
            <a:ext cx="73152" cy="1097280"/>
          </a:xfrm>
          <a:prstGeom prst="rect">
            <a:avLst/>
          </a:prstGeom>
          <a:solidFill>
            <a:srgbClr val="2563EB"/>
          </a:solidFill>
          <a:ln w="9525">
            <a:solidFill>
              <a:srgbClr val="2563EB"/>
            </a:solidFill>
          </a:ln>
        </p:spPr>
        <p:txBody>
          <a:bodyPr/>
          <a:lstStyle/>
          <a:p/>
        </p:txBody>
      </p:sp>
      <p:sp>
        <p:nvSpPr>
          <p:cNvPr id="23" name="TextBox 23"/>
          <p:cNvSpPr txBox="1"/>
          <p:nvPr/>
        </p:nvSpPr>
        <p:spPr>
          <a:xfrm>
            <a:off x="8503920" y="1490472"/>
            <a:ext cx="2834639" cy="320040"/>
          </a:xfrm>
          <a:prstGeom prst="rect">
            <a:avLst/>
          </a:prstGeom>
          <a:noFill/>
          <a:ln>
            <a:noFill/>
          </a:ln>
        </p:spPr>
        <p:txBody>
          <a:bodyPr wrap="square" anchor="t"/>
          <a:lstStyle/>
          <a:p>
            <a:pPr algn="l"/>
            <a:r>
              <a:rPr lang="vi-VN" sz="1600" b="1">
                <a:solidFill>
                  <a:srgbClr val="0F172A"/>
                </a:solidFill>
                <a:latin typeface="Aptos"/>
              </a:rPr>
              <a:t>API Gateway</a:t>
            </a:r>
            <a:endParaRPr lang="vi-VN" sz="1600"/>
          </a:p>
        </p:txBody>
      </p:sp>
      <p:sp>
        <p:nvSpPr>
          <p:cNvPr id="24" name="TextBox 24"/>
          <p:cNvSpPr txBox="1"/>
          <p:nvPr/>
        </p:nvSpPr>
        <p:spPr>
          <a:xfrm>
            <a:off x="8503920" y="1892807"/>
            <a:ext cx="2834639" cy="457200"/>
          </a:xfrm>
          <a:prstGeom prst="rect">
            <a:avLst/>
          </a:prstGeom>
          <a:noFill/>
          <a:ln>
            <a:noFill/>
          </a:ln>
        </p:spPr>
        <p:txBody>
          <a:bodyPr wrap="square" anchor="t"/>
          <a:lstStyle/>
          <a:p>
            <a:pPr algn="l"/>
            <a:r>
              <a:rPr lang="vi-VN" sz="1300">
                <a:solidFill>
                  <a:srgbClr val="475569"/>
                </a:solidFill>
                <a:latin typeface="Aptos"/>
              </a:rPr>
              <a:t>Điểm vào chung, route request và kiểm tra token.</a:t>
            </a:r>
            <a:endParaRPr lang="vi-VN" sz="1300"/>
          </a:p>
        </p:txBody>
      </p:sp>
      <p:sp>
        <p:nvSpPr>
          <p:cNvPr id="25" name="Shape 25"/>
          <p:cNvSpPr/>
          <p:nvPr/>
        </p:nvSpPr>
        <p:spPr>
          <a:xfrm>
            <a:off x="8275320" y="2651760"/>
            <a:ext cx="3246120" cy="1097280"/>
          </a:xfrm>
          <a:prstGeom prst="roundRect">
            <a:avLst/>
          </a:prstGeom>
          <a:solidFill>
            <a:srgbClr val="FFFFFF"/>
          </a:solidFill>
          <a:ln w="9525">
            <a:solidFill>
              <a:srgbClr val="E2E8F0"/>
            </a:solidFill>
          </a:ln>
        </p:spPr>
        <p:txBody>
          <a:bodyPr/>
          <a:lstStyle/>
          <a:p/>
        </p:txBody>
      </p:sp>
      <p:sp>
        <p:nvSpPr>
          <p:cNvPr id="26" name="Shape 26"/>
          <p:cNvSpPr/>
          <p:nvPr/>
        </p:nvSpPr>
        <p:spPr>
          <a:xfrm>
            <a:off x="8275320" y="2651760"/>
            <a:ext cx="73152" cy="1097280"/>
          </a:xfrm>
          <a:prstGeom prst="rect">
            <a:avLst/>
          </a:prstGeom>
          <a:solidFill>
            <a:srgbClr val="16A34A"/>
          </a:solidFill>
          <a:ln w="9525">
            <a:solidFill>
              <a:srgbClr val="16A34A"/>
            </a:solidFill>
          </a:ln>
        </p:spPr>
        <p:txBody>
          <a:bodyPr/>
          <a:lstStyle/>
          <a:p/>
        </p:txBody>
      </p:sp>
      <p:sp>
        <p:nvSpPr>
          <p:cNvPr id="27" name="TextBox 27"/>
          <p:cNvSpPr txBox="1"/>
          <p:nvPr/>
        </p:nvSpPr>
        <p:spPr>
          <a:xfrm>
            <a:off x="8503920" y="2816352"/>
            <a:ext cx="2834639" cy="320040"/>
          </a:xfrm>
          <a:prstGeom prst="rect">
            <a:avLst/>
          </a:prstGeom>
          <a:noFill/>
          <a:ln>
            <a:noFill/>
          </a:ln>
        </p:spPr>
        <p:txBody>
          <a:bodyPr wrap="square" anchor="t"/>
          <a:lstStyle/>
          <a:p>
            <a:pPr algn="l"/>
            <a:r>
              <a:rPr lang="vi-VN" sz="1600" b="1">
                <a:solidFill>
                  <a:srgbClr val="0F172A"/>
                </a:solidFill>
                <a:latin typeface="Aptos"/>
              </a:rPr>
              <a:t>Microservices</a:t>
            </a:r>
            <a:endParaRPr lang="vi-VN" sz="1600"/>
          </a:p>
        </p:txBody>
      </p:sp>
      <p:sp>
        <p:nvSpPr>
          <p:cNvPr id="28" name="TextBox 28"/>
          <p:cNvSpPr txBox="1"/>
          <p:nvPr/>
        </p:nvSpPr>
        <p:spPr>
          <a:xfrm>
            <a:off x="8503920" y="3218688"/>
            <a:ext cx="2834639" cy="457200"/>
          </a:xfrm>
          <a:prstGeom prst="rect">
            <a:avLst/>
          </a:prstGeom>
          <a:noFill/>
          <a:ln>
            <a:noFill/>
          </a:ln>
        </p:spPr>
        <p:txBody>
          <a:bodyPr wrap="square" anchor="t"/>
          <a:lstStyle/>
          <a:p>
            <a:pPr algn="l"/>
            <a:r>
              <a:rPr lang="vi-VN" sz="1300">
                <a:solidFill>
                  <a:srgbClr val="475569"/>
                </a:solidFill>
                <a:latin typeface="Aptos"/>
              </a:rPr>
              <a:t>Identity, Catalog, Core, Trade Logistics, Blockchain.</a:t>
            </a:r>
            <a:endParaRPr lang="vi-VN" sz="1300"/>
          </a:p>
        </p:txBody>
      </p:sp>
      <p:sp>
        <p:nvSpPr>
          <p:cNvPr id="29" name="Shape 29"/>
          <p:cNvSpPr/>
          <p:nvPr/>
        </p:nvSpPr>
        <p:spPr>
          <a:xfrm>
            <a:off x="8275320" y="3977639"/>
            <a:ext cx="3246120" cy="1097280"/>
          </a:xfrm>
          <a:prstGeom prst="roundRect">
            <a:avLst/>
          </a:prstGeom>
          <a:solidFill>
            <a:srgbClr val="FFFFFF"/>
          </a:solidFill>
          <a:ln w="9525">
            <a:solidFill>
              <a:srgbClr val="E2E8F0"/>
            </a:solidFill>
          </a:ln>
        </p:spPr>
        <p:txBody>
          <a:bodyPr/>
          <a:lstStyle/>
          <a:p/>
        </p:txBody>
      </p:sp>
      <p:sp>
        <p:nvSpPr>
          <p:cNvPr id="30" name="Shape 30"/>
          <p:cNvSpPr/>
          <p:nvPr/>
        </p:nvSpPr>
        <p:spPr>
          <a:xfrm>
            <a:off x="8275320" y="3977639"/>
            <a:ext cx="73152" cy="1097280"/>
          </a:xfrm>
          <a:prstGeom prst="rect">
            <a:avLst/>
          </a:prstGeom>
          <a:solidFill>
            <a:srgbClr val="F97316"/>
          </a:solidFill>
          <a:ln w="9525">
            <a:solidFill>
              <a:srgbClr val="F97316"/>
            </a:solidFill>
          </a:ln>
        </p:spPr>
        <p:txBody>
          <a:bodyPr/>
          <a:lstStyle/>
          <a:p/>
        </p:txBody>
      </p:sp>
      <p:sp>
        <p:nvSpPr>
          <p:cNvPr id="31" name="TextBox 31"/>
          <p:cNvSpPr txBox="1"/>
          <p:nvPr/>
        </p:nvSpPr>
        <p:spPr>
          <a:xfrm>
            <a:off x="8503920" y="4142231"/>
            <a:ext cx="2834639" cy="320040"/>
          </a:xfrm>
          <a:prstGeom prst="rect">
            <a:avLst/>
          </a:prstGeom>
          <a:noFill/>
          <a:ln>
            <a:noFill/>
          </a:ln>
        </p:spPr>
        <p:txBody>
          <a:bodyPr wrap="square" anchor="t"/>
          <a:lstStyle/>
          <a:p>
            <a:pPr algn="l"/>
            <a:r>
              <a:rPr lang="vi-VN" sz="1600" b="1">
                <a:solidFill>
                  <a:srgbClr val="0F172A"/>
                </a:solidFill>
                <a:latin typeface="Aptos"/>
              </a:rPr>
              <a:t>Bất đồng bộ</a:t>
            </a:r>
            <a:endParaRPr lang="vi-VN" sz="1600"/>
          </a:p>
        </p:txBody>
      </p:sp>
      <p:sp>
        <p:nvSpPr>
          <p:cNvPr id="32" name="TextBox 32"/>
          <p:cNvSpPr txBox="1"/>
          <p:nvPr/>
        </p:nvSpPr>
        <p:spPr>
          <a:xfrm>
            <a:off x="8503920" y="4544568"/>
            <a:ext cx="2834639" cy="457200"/>
          </a:xfrm>
          <a:prstGeom prst="rect">
            <a:avLst/>
          </a:prstGeom>
          <a:noFill/>
          <a:ln>
            <a:noFill/>
          </a:ln>
        </p:spPr>
        <p:txBody>
          <a:bodyPr wrap="square" anchor="t"/>
          <a:lstStyle/>
          <a:p>
            <a:pPr algn="l"/>
            <a:r>
              <a:rPr lang="vi-VN" sz="1300">
                <a:solidFill>
                  <a:srgbClr val="475569"/>
                </a:solidFill>
                <a:latin typeface="Aptos"/>
              </a:rPr>
              <a:t>Kafka xử lý ghi blockchain và cập nhật trạng thái.</a:t>
            </a:r>
            <a:endParaRPr lang="vi-VN" sz="13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502920" y="256032"/>
            <a:ext cx="9875520" cy="411480"/>
          </a:xfrm>
          <a:prstGeom prst="rect">
            <a:avLst/>
          </a:prstGeom>
          <a:noFill/>
          <a:ln>
            <a:noFill/>
          </a:ln>
        </p:spPr>
        <p:txBody>
          <a:bodyPr wrap="square" anchor="t"/>
          <a:lstStyle/>
          <a:p>
            <a:pPr algn="l"/>
            <a:r>
              <a:rPr lang="vi-VN" sz="2500" b="1">
                <a:solidFill>
                  <a:srgbClr val="0F172A"/>
                </a:solidFill>
                <a:latin typeface="Aptos"/>
              </a:rPr>
              <a:t>Công nghệ sử dụng</a:t>
            </a:r>
            <a:endParaRPr lang="vi-VN" sz="2500"/>
          </a:p>
        </p:txBody>
      </p:sp>
      <p:sp>
        <p:nvSpPr>
          <p:cNvPr id="3" name="TextBox 3"/>
          <p:cNvSpPr txBox="1"/>
          <p:nvPr/>
        </p:nvSpPr>
        <p:spPr>
          <a:xfrm>
            <a:off x="521207" y="713232"/>
            <a:ext cx="9601200" cy="292608"/>
          </a:xfrm>
          <a:prstGeom prst="rect">
            <a:avLst/>
          </a:prstGeom>
          <a:noFill/>
          <a:ln>
            <a:noFill/>
          </a:ln>
        </p:spPr>
        <p:txBody>
          <a:bodyPr wrap="square" anchor="t"/>
          <a:lstStyle/>
          <a:p>
            <a:pPr algn="l"/>
            <a:r>
              <a:rPr lang="vi-VN" sz="1200">
                <a:solidFill>
                  <a:srgbClr val="475569"/>
                </a:solidFill>
                <a:latin typeface="Aptos"/>
              </a:rPr>
              <a:t>Lựa chọn công nghệ theo từng lớp của hệ thống</a:t>
            </a:r>
            <a:endParaRPr lang="vi-VN" sz="1200"/>
          </a:p>
        </p:txBody>
      </p:sp>
      <p:sp>
        <p:nvSpPr>
          <p:cNvPr id="4" name="Shape 4"/>
          <p:cNvSpPr/>
          <p:nvPr/>
        </p:nvSpPr>
        <p:spPr>
          <a:xfrm>
            <a:off x="502920" y="1024128"/>
            <a:ext cx="1051560" cy="45720"/>
          </a:xfrm>
          <a:prstGeom prst="rect">
            <a:avLst/>
          </a:prstGeom>
          <a:solidFill>
            <a:srgbClr val="2563EB"/>
          </a:solidFill>
          <a:ln w="9525">
            <a:solidFill>
              <a:srgbClr val="2563EB"/>
            </a:solidFill>
          </a:ln>
        </p:spPr>
        <p:txBody>
          <a:bodyPr/>
          <a:lstStyle/>
          <a:p/>
        </p:txBody>
      </p:sp>
      <p:sp>
        <p:nvSpPr>
          <p:cNvPr id="20" name="Shape 20"/>
          <p:cNvSpPr/>
          <p:nvPr/>
        </p:nvSpPr>
        <p:spPr>
          <a:xfrm>
            <a:off x="777240" y="1600200"/>
            <a:ext cx="2487168" cy="3200400"/>
          </a:xfrm>
          <a:prstGeom prst="roundRect">
            <a:avLst/>
          </a:prstGeom>
          <a:solidFill>
            <a:srgbClr val="DBEAFE"/>
          </a:solidFill>
          <a:ln w="9525">
            <a:solidFill>
              <a:srgbClr val="E2E8F0"/>
            </a:solidFill>
          </a:ln>
        </p:spPr>
        <p:txBody>
          <a:bodyPr/>
          <a:lstStyle/>
          <a:p/>
        </p:txBody>
      </p:sp>
      <p:sp>
        <p:nvSpPr>
          <p:cNvPr id="21" name="Shape 21"/>
          <p:cNvSpPr/>
          <p:nvPr/>
        </p:nvSpPr>
        <p:spPr>
          <a:xfrm>
            <a:off x="777240" y="1600200"/>
            <a:ext cx="73152" cy="3200400"/>
          </a:xfrm>
          <a:prstGeom prst="rect">
            <a:avLst/>
          </a:prstGeom>
          <a:solidFill>
            <a:srgbClr val="2563EB"/>
          </a:solidFill>
          <a:ln w="9525">
            <a:solidFill>
              <a:srgbClr val="2563EB"/>
            </a:solidFill>
          </a:ln>
        </p:spPr>
        <p:txBody>
          <a:bodyPr/>
          <a:lstStyle/>
          <a:p/>
        </p:txBody>
      </p:sp>
      <p:sp>
        <p:nvSpPr>
          <p:cNvPr id="22" name="TextBox 22"/>
          <p:cNvSpPr txBox="1"/>
          <p:nvPr/>
        </p:nvSpPr>
        <p:spPr>
          <a:xfrm>
            <a:off x="1005840" y="1764792"/>
            <a:ext cx="2075688" cy="320040"/>
          </a:xfrm>
          <a:prstGeom prst="rect">
            <a:avLst/>
          </a:prstGeom>
          <a:noFill/>
          <a:ln>
            <a:noFill/>
          </a:ln>
        </p:spPr>
        <p:txBody>
          <a:bodyPr wrap="square" anchor="t"/>
          <a:lstStyle/>
          <a:p>
            <a:pPr algn="l"/>
            <a:r>
              <a:rPr lang="vi-VN" sz="1600" b="1">
                <a:solidFill>
                  <a:srgbClr val="0F172A"/>
                </a:solidFill>
                <a:latin typeface="Aptos"/>
              </a:rPr>
              <a:t>Backend</a:t>
            </a:r>
            <a:endParaRPr lang="vi-VN" sz="1600"/>
          </a:p>
        </p:txBody>
      </p:sp>
      <p:sp>
        <p:nvSpPr>
          <p:cNvPr id="23" name="TextBox 23"/>
          <p:cNvSpPr txBox="1"/>
          <p:nvPr/>
        </p:nvSpPr>
        <p:spPr>
          <a:xfrm>
            <a:off x="1005840" y="2167128"/>
            <a:ext cx="2075688" cy="2560320"/>
          </a:xfrm>
          <a:prstGeom prst="rect">
            <a:avLst/>
          </a:prstGeom>
          <a:noFill/>
          <a:ln>
            <a:noFill/>
          </a:ln>
        </p:spPr>
        <p:txBody>
          <a:bodyPr wrap="square" anchor="t"/>
          <a:lstStyle/>
          <a:p>
            <a:pPr algn="l"/>
            <a:r>
              <a:rPr lang="vi-VN" sz="1300">
                <a:solidFill>
                  <a:srgbClr val="475569"/>
                </a:solidFill>
                <a:latin typeface="Aptos"/>
              </a:rPr>
              <a:t>Spring Boot</a:t>
            </a:r>
            <a:endParaRPr lang="vi-VN" sz="1300"/>
          </a:p>
          <a:p>
            <a:pPr algn="l"/>
            <a:r>
              <a:rPr lang="vi-VN" sz="1300">
                <a:solidFill>
                  <a:srgbClr val="475569"/>
                </a:solidFill>
                <a:latin typeface="Aptos"/>
              </a:rPr>
              <a:t>Spring Security</a:t>
            </a:r>
            <a:endParaRPr lang="vi-VN" sz="1300"/>
          </a:p>
          <a:p>
            <a:pPr algn="l"/>
            <a:r>
              <a:rPr lang="vi-VN" sz="1300">
                <a:solidFill>
                  <a:srgbClr val="475569"/>
                </a:solidFill>
                <a:latin typeface="Aptos"/>
              </a:rPr>
              <a:t>Eureka, Feign</a:t>
            </a:r>
            <a:endParaRPr lang="vi-VN" sz="1300"/>
          </a:p>
        </p:txBody>
      </p:sp>
      <p:sp>
        <p:nvSpPr>
          <p:cNvPr id="24" name="Shape 24"/>
          <p:cNvSpPr/>
          <p:nvPr/>
        </p:nvSpPr>
        <p:spPr>
          <a:xfrm>
            <a:off x="3566160" y="1600200"/>
            <a:ext cx="2487168" cy="3200400"/>
          </a:xfrm>
          <a:prstGeom prst="roundRect">
            <a:avLst/>
          </a:prstGeom>
          <a:solidFill>
            <a:srgbClr val="DCFCE7"/>
          </a:solidFill>
          <a:ln w="9525">
            <a:solidFill>
              <a:srgbClr val="E2E8F0"/>
            </a:solidFill>
          </a:ln>
        </p:spPr>
        <p:txBody>
          <a:bodyPr/>
          <a:lstStyle/>
          <a:p/>
        </p:txBody>
      </p:sp>
      <p:sp>
        <p:nvSpPr>
          <p:cNvPr id="25" name="Shape 25"/>
          <p:cNvSpPr/>
          <p:nvPr/>
        </p:nvSpPr>
        <p:spPr>
          <a:xfrm>
            <a:off x="3566160" y="1600200"/>
            <a:ext cx="73152" cy="3200400"/>
          </a:xfrm>
          <a:prstGeom prst="rect">
            <a:avLst/>
          </a:prstGeom>
          <a:solidFill>
            <a:srgbClr val="16A34A"/>
          </a:solidFill>
          <a:ln w="9525">
            <a:solidFill>
              <a:srgbClr val="16A34A"/>
            </a:solidFill>
          </a:ln>
        </p:spPr>
        <p:txBody>
          <a:bodyPr/>
          <a:lstStyle/>
          <a:p/>
        </p:txBody>
      </p:sp>
      <p:sp>
        <p:nvSpPr>
          <p:cNvPr id="26" name="TextBox 26"/>
          <p:cNvSpPr txBox="1"/>
          <p:nvPr/>
        </p:nvSpPr>
        <p:spPr>
          <a:xfrm>
            <a:off x="3794760" y="1764792"/>
            <a:ext cx="2075688" cy="320040"/>
          </a:xfrm>
          <a:prstGeom prst="rect">
            <a:avLst/>
          </a:prstGeom>
          <a:noFill/>
          <a:ln>
            <a:noFill/>
          </a:ln>
        </p:spPr>
        <p:txBody>
          <a:bodyPr wrap="square" anchor="t"/>
          <a:lstStyle/>
          <a:p>
            <a:pPr algn="l"/>
            <a:r>
              <a:rPr lang="vi-VN" sz="1600" b="1">
                <a:solidFill>
                  <a:srgbClr val="0F172A"/>
                </a:solidFill>
                <a:latin typeface="Aptos"/>
              </a:rPr>
              <a:t>Web</a:t>
            </a:r>
            <a:endParaRPr lang="vi-VN" sz="1600"/>
          </a:p>
        </p:txBody>
      </p:sp>
      <p:sp>
        <p:nvSpPr>
          <p:cNvPr id="27" name="TextBox 27"/>
          <p:cNvSpPr txBox="1"/>
          <p:nvPr/>
        </p:nvSpPr>
        <p:spPr>
          <a:xfrm>
            <a:off x="3794760" y="2167128"/>
            <a:ext cx="2075688" cy="2560320"/>
          </a:xfrm>
          <a:prstGeom prst="rect">
            <a:avLst/>
          </a:prstGeom>
          <a:noFill/>
          <a:ln>
            <a:noFill/>
          </a:ln>
        </p:spPr>
        <p:txBody>
          <a:bodyPr wrap="square" anchor="t"/>
          <a:lstStyle/>
          <a:p>
            <a:pPr algn="l"/>
            <a:r>
              <a:rPr lang="vi-VN" sz="1300">
                <a:solidFill>
                  <a:srgbClr val="475569"/>
                </a:solidFill>
                <a:latin typeface="Aptos"/>
              </a:rPr>
              <a:t>React, Vite</a:t>
            </a:r>
            <a:endParaRPr lang="vi-VN" sz="1300"/>
          </a:p>
          <a:p>
            <a:pPr algn="l"/>
            <a:r>
              <a:rPr lang="vi-VN" sz="1300">
                <a:solidFill>
                  <a:srgbClr val="475569"/>
                </a:solidFill>
                <a:latin typeface="Aptos"/>
              </a:rPr>
              <a:t>Ant Design</a:t>
            </a:r>
            <a:endParaRPr lang="vi-VN" sz="1300"/>
          </a:p>
          <a:p>
            <a:pPr algn="l"/>
            <a:r>
              <a:rPr lang="vi-VN" sz="1300">
                <a:solidFill>
                  <a:srgbClr val="475569"/>
                </a:solidFill>
                <a:latin typeface="Aptos"/>
              </a:rPr>
              <a:t>React Query</a:t>
            </a:r>
            <a:endParaRPr lang="vi-VN" sz="1300"/>
          </a:p>
        </p:txBody>
      </p:sp>
      <p:sp>
        <p:nvSpPr>
          <p:cNvPr id="28" name="Shape 28"/>
          <p:cNvSpPr/>
          <p:nvPr/>
        </p:nvSpPr>
        <p:spPr>
          <a:xfrm>
            <a:off x="6355079" y="1600200"/>
            <a:ext cx="2487168" cy="3200400"/>
          </a:xfrm>
          <a:prstGeom prst="roundRect">
            <a:avLst/>
          </a:prstGeom>
          <a:solidFill>
            <a:srgbClr val="FFEDD5"/>
          </a:solidFill>
          <a:ln w="9525">
            <a:solidFill>
              <a:srgbClr val="E2E8F0"/>
            </a:solidFill>
          </a:ln>
        </p:spPr>
        <p:txBody>
          <a:bodyPr/>
          <a:lstStyle/>
          <a:p/>
        </p:txBody>
      </p:sp>
      <p:sp>
        <p:nvSpPr>
          <p:cNvPr id="29" name="Shape 29"/>
          <p:cNvSpPr/>
          <p:nvPr/>
        </p:nvSpPr>
        <p:spPr>
          <a:xfrm>
            <a:off x="6355079" y="1600200"/>
            <a:ext cx="73152" cy="3200400"/>
          </a:xfrm>
          <a:prstGeom prst="rect">
            <a:avLst/>
          </a:prstGeom>
          <a:solidFill>
            <a:srgbClr val="F97316"/>
          </a:solidFill>
          <a:ln w="9525">
            <a:solidFill>
              <a:srgbClr val="F97316"/>
            </a:solidFill>
          </a:ln>
        </p:spPr>
        <p:txBody>
          <a:bodyPr/>
          <a:lstStyle/>
          <a:p/>
        </p:txBody>
      </p:sp>
      <p:sp>
        <p:nvSpPr>
          <p:cNvPr id="30" name="TextBox 30"/>
          <p:cNvSpPr txBox="1"/>
          <p:nvPr/>
        </p:nvSpPr>
        <p:spPr>
          <a:xfrm>
            <a:off x="6583679" y="1764792"/>
            <a:ext cx="2075688" cy="320040"/>
          </a:xfrm>
          <a:prstGeom prst="rect">
            <a:avLst/>
          </a:prstGeom>
          <a:noFill/>
          <a:ln>
            <a:noFill/>
          </a:ln>
        </p:spPr>
        <p:txBody>
          <a:bodyPr wrap="square" anchor="t"/>
          <a:lstStyle/>
          <a:p>
            <a:pPr algn="l"/>
            <a:r>
              <a:rPr lang="vi-VN" sz="1600" b="1">
                <a:solidFill>
                  <a:srgbClr val="0F172A"/>
                </a:solidFill>
                <a:latin typeface="Aptos"/>
              </a:rPr>
              <a:t>Mobile</a:t>
            </a:r>
            <a:endParaRPr lang="vi-VN" sz="1600"/>
          </a:p>
        </p:txBody>
      </p:sp>
      <p:sp>
        <p:nvSpPr>
          <p:cNvPr id="31" name="TextBox 31"/>
          <p:cNvSpPr txBox="1"/>
          <p:nvPr/>
        </p:nvSpPr>
        <p:spPr>
          <a:xfrm>
            <a:off x="6583679" y="2167128"/>
            <a:ext cx="2075688" cy="2560320"/>
          </a:xfrm>
          <a:prstGeom prst="rect">
            <a:avLst/>
          </a:prstGeom>
          <a:noFill/>
          <a:ln>
            <a:noFill/>
          </a:ln>
        </p:spPr>
        <p:txBody>
          <a:bodyPr wrap="square" anchor="t"/>
          <a:lstStyle/>
          <a:p>
            <a:pPr algn="l"/>
            <a:r>
              <a:rPr lang="vi-VN" sz="1300">
                <a:solidFill>
                  <a:srgbClr val="475569"/>
                </a:solidFill>
                <a:latin typeface="Aptos"/>
              </a:rPr>
              <a:t>Flutter, Bloc</a:t>
            </a:r>
            <a:endParaRPr lang="vi-VN" sz="1300"/>
          </a:p>
          <a:p>
            <a:pPr algn="l"/>
            <a:r>
              <a:rPr lang="vi-VN" sz="1300">
                <a:solidFill>
                  <a:srgbClr val="475569"/>
                </a:solidFill>
                <a:latin typeface="Aptos"/>
              </a:rPr>
              <a:t>Dio</a:t>
            </a:r>
            <a:endParaRPr lang="vi-VN" sz="1300"/>
          </a:p>
          <a:p>
            <a:pPr algn="l"/>
            <a:r>
              <a:rPr lang="vi-VN" sz="1300">
                <a:solidFill>
                  <a:srgbClr val="475569"/>
                </a:solidFill>
                <a:latin typeface="Aptos"/>
              </a:rPr>
              <a:t>QR/OCR scanner</a:t>
            </a:r>
            <a:endParaRPr lang="vi-VN" sz="1300"/>
          </a:p>
        </p:txBody>
      </p:sp>
      <p:sp>
        <p:nvSpPr>
          <p:cNvPr id="32" name="Shape 32"/>
          <p:cNvSpPr/>
          <p:nvPr/>
        </p:nvSpPr>
        <p:spPr>
          <a:xfrm>
            <a:off x="9143999" y="1600200"/>
            <a:ext cx="2487168" cy="3200400"/>
          </a:xfrm>
          <a:prstGeom prst="roundRect">
            <a:avLst/>
          </a:prstGeom>
          <a:solidFill>
            <a:srgbClr val="DBEAFE"/>
          </a:solidFill>
          <a:ln w="9525">
            <a:solidFill>
              <a:srgbClr val="E2E8F0"/>
            </a:solidFill>
          </a:ln>
        </p:spPr>
        <p:txBody>
          <a:bodyPr/>
          <a:lstStyle/>
          <a:p/>
        </p:txBody>
      </p:sp>
      <p:sp>
        <p:nvSpPr>
          <p:cNvPr id="33" name="Shape 33"/>
          <p:cNvSpPr/>
          <p:nvPr/>
        </p:nvSpPr>
        <p:spPr>
          <a:xfrm>
            <a:off x="9143999" y="1600200"/>
            <a:ext cx="73152" cy="3200400"/>
          </a:xfrm>
          <a:prstGeom prst="rect">
            <a:avLst/>
          </a:prstGeom>
          <a:solidFill>
            <a:srgbClr val="2563EB"/>
          </a:solidFill>
          <a:ln w="9525">
            <a:solidFill>
              <a:srgbClr val="2563EB"/>
            </a:solidFill>
          </a:ln>
        </p:spPr>
        <p:txBody>
          <a:bodyPr/>
          <a:lstStyle/>
          <a:p/>
        </p:txBody>
      </p:sp>
      <p:sp>
        <p:nvSpPr>
          <p:cNvPr id="34" name="TextBox 34"/>
          <p:cNvSpPr txBox="1"/>
          <p:nvPr/>
        </p:nvSpPr>
        <p:spPr>
          <a:xfrm>
            <a:off x="9372599" y="1764792"/>
            <a:ext cx="2075688" cy="320040"/>
          </a:xfrm>
          <a:prstGeom prst="rect">
            <a:avLst/>
          </a:prstGeom>
          <a:noFill/>
          <a:ln>
            <a:noFill/>
          </a:ln>
        </p:spPr>
        <p:txBody>
          <a:bodyPr wrap="square" anchor="t"/>
          <a:lstStyle/>
          <a:p>
            <a:pPr algn="l"/>
            <a:r>
              <a:rPr lang="vi-VN" sz="1600" b="1">
                <a:solidFill>
                  <a:srgbClr val="0F172A"/>
                </a:solidFill>
                <a:latin typeface="Aptos"/>
              </a:rPr>
              <a:t>Blockchain &amp; Hạ tầng</a:t>
            </a:r>
            <a:endParaRPr lang="vi-VN" sz="1600"/>
          </a:p>
        </p:txBody>
      </p:sp>
      <p:sp>
        <p:nvSpPr>
          <p:cNvPr id="35" name="TextBox 35"/>
          <p:cNvSpPr txBox="1"/>
          <p:nvPr/>
        </p:nvSpPr>
        <p:spPr>
          <a:xfrm>
            <a:off x="9372599" y="2167128"/>
            <a:ext cx="2075688" cy="2560320"/>
          </a:xfrm>
          <a:prstGeom prst="rect">
            <a:avLst/>
          </a:prstGeom>
          <a:noFill/>
          <a:ln>
            <a:noFill/>
          </a:ln>
        </p:spPr>
        <p:txBody>
          <a:bodyPr wrap="square" anchor="t"/>
          <a:lstStyle/>
          <a:p>
            <a:pPr algn="l"/>
            <a:r>
              <a:rPr lang="vi-VN" sz="1300">
                <a:solidFill>
                  <a:srgbClr val="475569"/>
                </a:solidFill>
                <a:latin typeface="Aptos"/>
              </a:rPr>
              <a:t>Solidity, Web3j</a:t>
            </a:r>
            <a:endParaRPr lang="vi-VN" sz="1300"/>
          </a:p>
          <a:p>
            <a:pPr algn="l"/>
            <a:r>
              <a:rPr lang="vi-VN" sz="1300">
                <a:solidFill>
                  <a:srgbClr val="475569"/>
                </a:solidFill>
                <a:latin typeface="Aptos"/>
              </a:rPr>
              <a:t>PostgreSQL, Kafka</a:t>
            </a:r>
            <a:endParaRPr lang="vi-VN" sz="1300"/>
          </a:p>
          <a:p>
            <a:pPr algn="l"/>
            <a:r>
              <a:rPr lang="vi-VN" sz="1300">
                <a:solidFill>
                  <a:srgbClr val="475569"/>
                </a:solidFill>
                <a:latin typeface="Aptos"/>
              </a:rPr>
              <a:t>WebSocket, Ganache</a:t>
            </a:r>
            <a:endParaRPr lang="vi-VN" sz="1300"/>
          </a:p>
        </p:txBody>
      </p:sp>
      <p:sp>
        <p:nvSpPr>
          <p:cNvPr id="45" name="TextBox 45"/>
          <p:cNvSpPr txBox="1"/>
          <p:nvPr/>
        </p:nvSpPr>
        <p:spPr>
          <a:xfrm>
            <a:off x="822960" y="5394960"/>
            <a:ext cx="10607040" cy="411480"/>
          </a:xfrm>
          <a:prstGeom prst="rect">
            <a:avLst/>
          </a:prstGeom>
          <a:noFill/>
          <a:ln>
            <a:noFill/>
          </a:ln>
        </p:spPr>
        <p:txBody>
          <a:bodyPr wrap="square" anchor="t"/>
          <a:lstStyle/>
          <a:p>
            <a:pPr algn="ctr"/>
            <a:r>
              <a:rPr lang="vi-VN" sz="1600" b="1">
                <a:solidFill>
                  <a:srgbClr val="0F172A"/>
                </a:solidFill>
                <a:latin typeface="Aptos"/>
              </a:rPr>
              <a:t>Điểm nhấn kỹ thuật: chia service theo trách nhiệm, xử lý blockchain bất đồng bộ, mobile hỗ trợ quét và xác minh tại hiện trường.</a:t>
            </a:r>
            <a:endParaRPr lang="vi-VN" sz="16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502920" y="256032"/>
            <a:ext cx="9875520" cy="411480"/>
          </a:xfrm>
          <a:prstGeom prst="rect">
            <a:avLst/>
          </a:prstGeom>
          <a:noFill/>
          <a:ln>
            <a:noFill/>
          </a:ln>
        </p:spPr>
        <p:txBody>
          <a:bodyPr wrap="square" anchor="t"/>
          <a:lstStyle/>
          <a:p>
            <a:pPr algn="l"/>
            <a:r>
              <a:rPr lang="vi-VN" sz="2500" b="1">
                <a:solidFill>
                  <a:srgbClr val="0F172A"/>
                </a:solidFill>
                <a:latin typeface="Aptos"/>
              </a:rPr>
              <a:t>Luồng nghiệp vụ chính</a:t>
            </a:r>
            <a:endParaRPr lang="vi-VN" sz="2500"/>
          </a:p>
        </p:txBody>
      </p:sp>
      <p:sp>
        <p:nvSpPr>
          <p:cNvPr id="3" name="TextBox 3"/>
          <p:cNvSpPr txBox="1"/>
          <p:nvPr/>
        </p:nvSpPr>
        <p:spPr>
          <a:xfrm>
            <a:off x="521207" y="713232"/>
            <a:ext cx="9601200" cy="292608"/>
          </a:xfrm>
          <a:prstGeom prst="rect">
            <a:avLst/>
          </a:prstGeom>
          <a:noFill/>
          <a:ln>
            <a:noFill/>
          </a:ln>
        </p:spPr>
        <p:txBody>
          <a:bodyPr wrap="square" anchor="t"/>
          <a:lstStyle/>
          <a:p>
            <a:pPr algn="l"/>
            <a:r>
              <a:rPr lang="vi-VN" sz="1200">
                <a:solidFill>
                  <a:srgbClr val="475569"/>
                </a:solidFill>
                <a:latin typeface="Aptos"/>
              </a:rPr>
              <a:t>Từ nguyên liệu đầu vào đến người dùng quét sản phẩm</a:t>
            </a:r>
            <a:endParaRPr lang="vi-VN" sz="1200"/>
          </a:p>
        </p:txBody>
      </p:sp>
      <p:sp>
        <p:nvSpPr>
          <p:cNvPr id="4" name="Shape 4"/>
          <p:cNvSpPr/>
          <p:nvPr/>
        </p:nvSpPr>
        <p:spPr>
          <a:xfrm>
            <a:off x="502920" y="1024128"/>
            <a:ext cx="1051560" cy="45720"/>
          </a:xfrm>
          <a:prstGeom prst="rect">
            <a:avLst/>
          </a:prstGeom>
          <a:solidFill>
            <a:srgbClr val="2563EB"/>
          </a:solidFill>
          <a:ln w="9525">
            <a:solidFill>
              <a:srgbClr val="2563EB"/>
            </a:solidFill>
          </a:ln>
        </p:spPr>
        <p:txBody>
          <a:bodyPr/>
          <a:lstStyle/>
          <a:p/>
        </p:txBody>
      </p:sp>
      <p:sp>
        <p:nvSpPr>
          <p:cNvPr id="20" name="Shape 20"/>
          <p:cNvSpPr/>
          <p:nvPr/>
        </p:nvSpPr>
        <p:spPr>
          <a:xfrm>
            <a:off x="502920" y="2103120"/>
            <a:ext cx="658368" cy="658368"/>
          </a:xfrm>
          <a:prstGeom prst="ellipse">
            <a:avLst/>
          </a:prstGeom>
          <a:solidFill>
            <a:srgbClr val="2563EB"/>
          </a:solidFill>
          <a:ln w="9525">
            <a:solidFill>
              <a:srgbClr val="FFFFFF"/>
            </a:solidFill>
          </a:ln>
        </p:spPr>
        <p:txBody>
          <a:bodyPr/>
          <a:lstStyle/>
          <a:p/>
        </p:txBody>
      </p:sp>
      <p:sp>
        <p:nvSpPr>
          <p:cNvPr id="21" name="TextBox 21"/>
          <p:cNvSpPr txBox="1"/>
          <p:nvPr/>
        </p:nvSpPr>
        <p:spPr>
          <a:xfrm>
            <a:off x="502920" y="2221992"/>
            <a:ext cx="658368" cy="228600"/>
          </a:xfrm>
          <a:prstGeom prst="rect">
            <a:avLst/>
          </a:prstGeom>
          <a:noFill/>
          <a:ln>
            <a:noFill/>
          </a:ln>
        </p:spPr>
        <p:txBody>
          <a:bodyPr wrap="square" anchor="t"/>
          <a:lstStyle/>
          <a:p>
            <a:pPr algn="ctr"/>
            <a:r>
              <a:rPr lang="vi-VN" sz="1800" b="1">
                <a:solidFill>
                  <a:srgbClr val="FFFFFF"/>
                </a:solidFill>
                <a:latin typeface="Aptos"/>
              </a:rPr>
              <a:t>1</a:t>
            </a:r>
            <a:endParaRPr lang="vi-VN" sz="1800"/>
          </a:p>
        </p:txBody>
      </p:sp>
      <p:sp>
        <p:nvSpPr>
          <p:cNvPr id="22" name="TextBox 22"/>
          <p:cNvSpPr txBox="1"/>
          <p:nvPr/>
        </p:nvSpPr>
        <p:spPr>
          <a:xfrm>
            <a:off x="182880" y="2926080"/>
            <a:ext cx="1325880" cy="685800"/>
          </a:xfrm>
          <a:prstGeom prst="rect">
            <a:avLst/>
          </a:prstGeom>
          <a:noFill/>
          <a:ln>
            <a:noFill/>
          </a:ln>
        </p:spPr>
        <p:txBody>
          <a:bodyPr wrap="square" anchor="t"/>
          <a:lstStyle/>
          <a:p>
            <a:pPr algn="ctr"/>
            <a:r>
              <a:rPr lang="vi-VN" sz="1400" b="1">
                <a:solidFill>
                  <a:srgbClr val="0F172A"/>
                </a:solidFill>
                <a:latin typeface="Aptos"/>
              </a:rPr>
              <a:t>Supplier</a:t>
            </a:r>
            <a:endParaRPr lang="vi-VN" sz="1400"/>
          </a:p>
          <a:p>
            <a:pPr algn="ctr"/>
            <a:r>
              <a:rPr lang="vi-VN" sz="1400" b="1">
                <a:solidFill>
                  <a:srgbClr val="0F172A"/>
                </a:solidFill>
                <a:latin typeface="Aptos"/>
              </a:rPr>
              <a:t>tạo nguyên liệu</a:t>
            </a:r>
            <a:endParaRPr lang="vi-VN" sz="1400"/>
          </a:p>
        </p:txBody>
      </p:sp>
      <p:sp>
        <p:nvSpPr>
          <p:cNvPr id="60" name="Shape 60"/>
          <p:cNvSpPr/>
          <p:nvPr/>
        </p:nvSpPr>
        <p:spPr>
          <a:xfrm>
            <a:off x="1252728" y="2395728"/>
            <a:ext cx="749808" cy="73152"/>
          </a:xfrm>
          <a:prstGeom prst="rect">
            <a:avLst/>
          </a:prstGeom>
          <a:solidFill>
            <a:srgbClr val="CBD5E1"/>
          </a:solidFill>
          <a:ln w="9525">
            <a:solidFill>
              <a:srgbClr val="CBD5E1"/>
            </a:solidFill>
          </a:ln>
        </p:spPr>
        <p:txBody>
          <a:bodyPr/>
          <a:lstStyle/>
          <a:p/>
        </p:txBody>
      </p:sp>
      <p:sp>
        <p:nvSpPr>
          <p:cNvPr id="23" name="Shape 23"/>
          <p:cNvSpPr/>
          <p:nvPr/>
        </p:nvSpPr>
        <p:spPr>
          <a:xfrm>
            <a:off x="2130552" y="2103120"/>
            <a:ext cx="658368" cy="658368"/>
          </a:xfrm>
          <a:prstGeom prst="ellipse">
            <a:avLst/>
          </a:prstGeom>
          <a:solidFill>
            <a:srgbClr val="2563EB"/>
          </a:solidFill>
          <a:ln w="9525">
            <a:solidFill>
              <a:srgbClr val="FFFFFF"/>
            </a:solidFill>
          </a:ln>
        </p:spPr>
        <p:txBody>
          <a:bodyPr/>
          <a:lstStyle/>
          <a:p/>
        </p:txBody>
      </p:sp>
      <p:sp>
        <p:nvSpPr>
          <p:cNvPr id="24" name="TextBox 24"/>
          <p:cNvSpPr txBox="1"/>
          <p:nvPr/>
        </p:nvSpPr>
        <p:spPr>
          <a:xfrm>
            <a:off x="2130552" y="2221992"/>
            <a:ext cx="658368" cy="228600"/>
          </a:xfrm>
          <a:prstGeom prst="rect">
            <a:avLst/>
          </a:prstGeom>
          <a:noFill/>
          <a:ln>
            <a:noFill/>
          </a:ln>
        </p:spPr>
        <p:txBody>
          <a:bodyPr wrap="square" anchor="t"/>
          <a:lstStyle/>
          <a:p>
            <a:pPr algn="ctr"/>
            <a:r>
              <a:rPr lang="vi-VN" sz="1800" b="1">
                <a:solidFill>
                  <a:srgbClr val="FFFFFF"/>
                </a:solidFill>
                <a:latin typeface="Aptos"/>
              </a:rPr>
              <a:t>2</a:t>
            </a:r>
            <a:endParaRPr lang="vi-VN" sz="1800"/>
          </a:p>
        </p:txBody>
      </p:sp>
      <p:sp>
        <p:nvSpPr>
          <p:cNvPr id="25" name="TextBox 25"/>
          <p:cNvSpPr txBox="1"/>
          <p:nvPr/>
        </p:nvSpPr>
        <p:spPr>
          <a:xfrm>
            <a:off x="1810512" y="2926080"/>
            <a:ext cx="1325880" cy="685800"/>
          </a:xfrm>
          <a:prstGeom prst="rect">
            <a:avLst/>
          </a:prstGeom>
          <a:noFill/>
          <a:ln>
            <a:noFill/>
          </a:ln>
        </p:spPr>
        <p:txBody>
          <a:bodyPr wrap="square" anchor="t"/>
          <a:lstStyle/>
          <a:p>
            <a:pPr algn="ctr"/>
            <a:r>
              <a:rPr lang="vi-VN" sz="1400" b="1">
                <a:solidFill>
                  <a:srgbClr val="0F172A"/>
                </a:solidFill>
                <a:latin typeface="Aptos"/>
              </a:rPr>
              <a:t>Manufacturer</a:t>
            </a:r>
            <a:endParaRPr lang="vi-VN" sz="1400"/>
          </a:p>
          <a:p>
            <a:pPr algn="ctr"/>
            <a:r>
              <a:rPr lang="vi-VN" sz="1400" b="1">
                <a:solidFill>
                  <a:srgbClr val="0F172A"/>
                </a:solidFill>
                <a:latin typeface="Aptos"/>
              </a:rPr>
              <a:t>mua nguyên liệu</a:t>
            </a:r>
            <a:endParaRPr lang="vi-VN" sz="1400"/>
          </a:p>
        </p:txBody>
      </p:sp>
      <p:sp>
        <p:nvSpPr>
          <p:cNvPr id="61" name="Shape 61"/>
          <p:cNvSpPr/>
          <p:nvPr/>
        </p:nvSpPr>
        <p:spPr>
          <a:xfrm>
            <a:off x="2880360" y="2395728"/>
            <a:ext cx="749808" cy="73152"/>
          </a:xfrm>
          <a:prstGeom prst="rect">
            <a:avLst/>
          </a:prstGeom>
          <a:solidFill>
            <a:srgbClr val="CBD5E1"/>
          </a:solidFill>
          <a:ln w="9525">
            <a:solidFill>
              <a:srgbClr val="CBD5E1"/>
            </a:solidFill>
          </a:ln>
        </p:spPr>
        <p:txBody>
          <a:bodyPr/>
          <a:lstStyle/>
          <a:p/>
        </p:txBody>
      </p:sp>
      <p:sp>
        <p:nvSpPr>
          <p:cNvPr id="26" name="Shape 26"/>
          <p:cNvSpPr/>
          <p:nvPr/>
        </p:nvSpPr>
        <p:spPr>
          <a:xfrm>
            <a:off x="3758184" y="2103120"/>
            <a:ext cx="658368" cy="658368"/>
          </a:xfrm>
          <a:prstGeom prst="ellipse">
            <a:avLst/>
          </a:prstGeom>
          <a:solidFill>
            <a:srgbClr val="2563EB"/>
          </a:solidFill>
          <a:ln w="9525">
            <a:solidFill>
              <a:srgbClr val="FFFFFF"/>
            </a:solidFill>
          </a:ln>
        </p:spPr>
        <p:txBody>
          <a:bodyPr/>
          <a:lstStyle/>
          <a:p/>
        </p:txBody>
      </p:sp>
      <p:sp>
        <p:nvSpPr>
          <p:cNvPr id="27" name="TextBox 27"/>
          <p:cNvSpPr txBox="1"/>
          <p:nvPr/>
        </p:nvSpPr>
        <p:spPr>
          <a:xfrm>
            <a:off x="3758184" y="2221992"/>
            <a:ext cx="658368" cy="228600"/>
          </a:xfrm>
          <a:prstGeom prst="rect">
            <a:avLst/>
          </a:prstGeom>
          <a:noFill/>
          <a:ln>
            <a:noFill/>
          </a:ln>
        </p:spPr>
        <p:txBody>
          <a:bodyPr wrap="square" anchor="t"/>
          <a:lstStyle/>
          <a:p>
            <a:pPr algn="ctr"/>
            <a:r>
              <a:rPr lang="vi-VN" sz="1800" b="1">
                <a:solidFill>
                  <a:srgbClr val="FFFFFF"/>
                </a:solidFill>
                <a:latin typeface="Aptos"/>
              </a:rPr>
              <a:t>3</a:t>
            </a:r>
            <a:endParaRPr lang="vi-VN" sz="1800"/>
          </a:p>
        </p:txBody>
      </p:sp>
      <p:sp>
        <p:nvSpPr>
          <p:cNvPr id="28" name="TextBox 28"/>
          <p:cNvSpPr txBox="1"/>
          <p:nvPr/>
        </p:nvSpPr>
        <p:spPr>
          <a:xfrm>
            <a:off x="3438144" y="2926080"/>
            <a:ext cx="1325880" cy="685800"/>
          </a:xfrm>
          <a:prstGeom prst="rect">
            <a:avLst/>
          </a:prstGeom>
          <a:noFill/>
          <a:ln>
            <a:noFill/>
          </a:ln>
        </p:spPr>
        <p:txBody>
          <a:bodyPr wrap="square" anchor="t"/>
          <a:lstStyle/>
          <a:p>
            <a:pPr algn="ctr"/>
            <a:r>
              <a:rPr lang="vi-VN" sz="1400" b="1">
                <a:solidFill>
                  <a:srgbClr val="0F172A"/>
                </a:solidFill>
                <a:latin typeface="Aptos"/>
              </a:rPr>
              <a:t>Sản xuất</a:t>
            </a:r>
            <a:endParaRPr lang="vi-VN" sz="1400"/>
          </a:p>
          <a:p>
            <a:pPr algn="ctr"/>
            <a:r>
              <a:rPr lang="vi-VN" sz="1400" b="1">
                <a:solidFill>
                  <a:srgbClr val="0F172A"/>
                </a:solidFill>
                <a:latin typeface="Aptos"/>
              </a:rPr>
              <a:t>pallet</a:t>
            </a:r>
            <a:endParaRPr lang="vi-VN" sz="1400"/>
          </a:p>
        </p:txBody>
      </p:sp>
      <p:sp>
        <p:nvSpPr>
          <p:cNvPr id="62" name="Shape 62"/>
          <p:cNvSpPr/>
          <p:nvPr/>
        </p:nvSpPr>
        <p:spPr>
          <a:xfrm>
            <a:off x="4507992" y="2395728"/>
            <a:ext cx="749808" cy="73152"/>
          </a:xfrm>
          <a:prstGeom prst="rect">
            <a:avLst/>
          </a:prstGeom>
          <a:solidFill>
            <a:srgbClr val="CBD5E1"/>
          </a:solidFill>
          <a:ln w="9525">
            <a:solidFill>
              <a:srgbClr val="CBD5E1"/>
            </a:solidFill>
          </a:ln>
        </p:spPr>
        <p:txBody>
          <a:bodyPr/>
          <a:lstStyle/>
          <a:p/>
        </p:txBody>
      </p:sp>
      <p:sp>
        <p:nvSpPr>
          <p:cNvPr id="29" name="Shape 29"/>
          <p:cNvSpPr/>
          <p:nvPr/>
        </p:nvSpPr>
        <p:spPr>
          <a:xfrm>
            <a:off x="5385816" y="2103120"/>
            <a:ext cx="658368" cy="658368"/>
          </a:xfrm>
          <a:prstGeom prst="ellipse">
            <a:avLst/>
          </a:prstGeom>
          <a:solidFill>
            <a:srgbClr val="2563EB"/>
          </a:solidFill>
          <a:ln w="9525">
            <a:solidFill>
              <a:srgbClr val="FFFFFF"/>
            </a:solidFill>
          </a:ln>
        </p:spPr>
        <p:txBody>
          <a:bodyPr/>
          <a:lstStyle/>
          <a:p/>
        </p:txBody>
      </p:sp>
      <p:sp>
        <p:nvSpPr>
          <p:cNvPr id="30" name="TextBox 30"/>
          <p:cNvSpPr txBox="1"/>
          <p:nvPr/>
        </p:nvSpPr>
        <p:spPr>
          <a:xfrm>
            <a:off x="5385816" y="2221992"/>
            <a:ext cx="658368" cy="228600"/>
          </a:xfrm>
          <a:prstGeom prst="rect">
            <a:avLst/>
          </a:prstGeom>
          <a:noFill/>
          <a:ln>
            <a:noFill/>
          </a:ln>
        </p:spPr>
        <p:txBody>
          <a:bodyPr wrap="square" anchor="t"/>
          <a:lstStyle/>
          <a:p>
            <a:pPr algn="ctr"/>
            <a:r>
              <a:rPr lang="vi-VN" sz="1800" b="1">
                <a:solidFill>
                  <a:srgbClr val="FFFFFF"/>
                </a:solidFill>
                <a:latin typeface="Aptos"/>
              </a:rPr>
              <a:t>4</a:t>
            </a:r>
            <a:endParaRPr lang="vi-VN" sz="1800"/>
          </a:p>
        </p:txBody>
      </p:sp>
      <p:sp>
        <p:nvSpPr>
          <p:cNvPr id="31" name="TextBox 31"/>
          <p:cNvSpPr txBox="1"/>
          <p:nvPr/>
        </p:nvSpPr>
        <p:spPr>
          <a:xfrm>
            <a:off x="5065776" y="2926080"/>
            <a:ext cx="1325880" cy="685800"/>
          </a:xfrm>
          <a:prstGeom prst="rect">
            <a:avLst/>
          </a:prstGeom>
          <a:noFill/>
          <a:ln>
            <a:noFill/>
          </a:ln>
        </p:spPr>
        <p:txBody>
          <a:bodyPr wrap="square" anchor="t"/>
          <a:lstStyle/>
          <a:p>
            <a:pPr algn="ctr"/>
            <a:r>
              <a:rPr lang="vi-VN" sz="1400" b="1">
                <a:solidFill>
                  <a:srgbClr val="0F172A"/>
                </a:solidFill>
                <a:latin typeface="Aptos"/>
              </a:rPr>
              <a:t>Đóng gói</a:t>
            </a:r>
            <a:endParaRPr lang="vi-VN" sz="1400"/>
          </a:p>
          <a:p>
            <a:pPr algn="ctr"/>
            <a:r>
              <a:rPr lang="vi-VN" sz="1400" b="1">
                <a:solidFill>
                  <a:srgbClr val="0F172A"/>
                </a:solidFill>
                <a:latin typeface="Aptos"/>
              </a:rPr>
              <a:t>carton/unit</a:t>
            </a:r>
            <a:endParaRPr lang="vi-VN" sz="1400"/>
          </a:p>
        </p:txBody>
      </p:sp>
      <p:sp>
        <p:nvSpPr>
          <p:cNvPr id="63" name="Shape 63"/>
          <p:cNvSpPr/>
          <p:nvPr/>
        </p:nvSpPr>
        <p:spPr>
          <a:xfrm>
            <a:off x="6135624" y="2395728"/>
            <a:ext cx="749808" cy="73152"/>
          </a:xfrm>
          <a:prstGeom prst="rect">
            <a:avLst/>
          </a:prstGeom>
          <a:solidFill>
            <a:srgbClr val="CBD5E1"/>
          </a:solidFill>
          <a:ln w="9525">
            <a:solidFill>
              <a:srgbClr val="CBD5E1"/>
            </a:solidFill>
          </a:ln>
        </p:spPr>
        <p:txBody>
          <a:bodyPr/>
          <a:lstStyle/>
          <a:p/>
        </p:txBody>
      </p:sp>
      <p:sp>
        <p:nvSpPr>
          <p:cNvPr id="32" name="Shape 32"/>
          <p:cNvSpPr/>
          <p:nvPr/>
        </p:nvSpPr>
        <p:spPr>
          <a:xfrm>
            <a:off x="7013448" y="2103120"/>
            <a:ext cx="658368" cy="658368"/>
          </a:xfrm>
          <a:prstGeom prst="ellipse">
            <a:avLst/>
          </a:prstGeom>
          <a:solidFill>
            <a:srgbClr val="16A34A"/>
          </a:solidFill>
          <a:ln w="9525">
            <a:solidFill>
              <a:srgbClr val="FFFFFF"/>
            </a:solidFill>
          </a:ln>
        </p:spPr>
        <p:txBody>
          <a:bodyPr/>
          <a:lstStyle/>
          <a:p/>
        </p:txBody>
      </p:sp>
      <p:sp>
        <p:nvSpPr>
          <p:cNvPr id="33" name="TextBox 33"/>
          <p:cNvSpPr txBox="1"/>
          <p:nvPr/>
        </p:nvSpPr>
        <p:spPr>
          <a:xfrm>
            <a:off x="7013448" y="2221992"/>
            <a:ext cx="658368" cy="228600"/>
          </a:xfrm>
          <a:prstGeom prst="rect">
            <a:avLst/>
          </a:prstGeom>
          <a:noFill/>
          <a:ln>
            <a:noFill/>
          </a:ln>
        </p:spPr>
        <p:txBody>
          <a:bodyPr wrap="square" anchor="t"/>
          <a:lstStyle/>
          <a:p>
            <a:pPr algn="ctr"/>
            <a:r>
              <a:rPr lang="vi-VN" sz="1800" b="1">
                <a:solidFill>
                  <a:srgbClr val="FFFFFF"/>
                </a:solidFill>
                <a:latin typeface="Aptos"/>
              </a:rPr>
              <a:t>5</a:t>
            </a:r>
            <a:endParaRPr lang="vi-VN" sz="1800"/>
          </a:p>
        </p:txBody>
      </p:sp>
      <p:sp>
        <p:nvSpPr>
          <p:cNvPr id="34" name="TextBox 34"/>
          <p:cNvSpPr txBox="1"/>
          <p:nvPr/>
        </p:nvSpPr>
        <p:spPr>
          <a:xfrm>
            <a:off x="6693408" y="2926080"/>
            <a:ext cx="1325880" cy="685800"/>
          </a:xfrm>
          <a:prstGeom prst="rect">
            <a:avLst/>
          </a:prstGeom>
          <a:noFill/>
          <a:ln>
            <a:noFill/>
          </a:ln>
        </p:spPr>
        <p:txBody>
          <a:bodyPr wrap="square" anchor="t"/>
          <a:lstStyle/>
          <a:p>
            <a:pPr algn="ctr"/>
            <a:r>
              <a:rPr lang="vi-VN" sz="1400" b="1">
                <a:solidFill>
                  <a:srgbClr val="0F172A"/>
                </a:solidFill>
                <a:latin typeface="Aptos"/>
              </a:rPr>
              <a:t>Retailer</a:t>
            </a:r>
            <a:endParaRPr lang="vi-VN" sz="1400"/>
          </a:p>
          <a:p>
            <a:pPr algn="ctr"/>
            <a:r>
              <a:rPr lang="vi-VN" sz="1400" b="1">
                <a:solidFill>
                  <a:srgbClr val="0F172A"/>
                </a:solidFill>
                <a:latin typeface="Aptos"/>
              </a:rPr>
              <a:t>đặt hàng</a:t>
            </a:r>
            <a:endParaRPr lang="vi-VN" sz="1400"/>
          </a:p>
        </p:txBody>
      </p:sp>
      <p:sp>
        <p:nvSpPr>
          <p:cNvPr id="64" name="Shape 64"/>
          <p:cNvSpPr/>
          <p:nvPr/>
        </p:nvSpPr>
        <p:spPr>
          <a:xfrm>
            <a:off x="7763256" y="2395728"/>
            <a:ext cx="749808" cy="73152"/>
          </a:xfrm>
          <a:prstGeom prst="rect">
            <a:avLst/>
          </a:prstGeom>
          <a:solidFill>
            <a:srgbClr val="CBD5E1"/>
          </a:solidFill>
          <a:ln w="9525">
            <a:solidFill>
              <a:srgbClr val="CBD5E1"/>
            </a:solidFill>
          </a:ln>
        </p:spPr>
        <p:txBody>
          <a:bodyPr/>
          <a:lstStyle/>
          <a:p/>
        </p:txBody>
      </p:sp>
      <p:sp>
        <p:nvSpPr>
          <p:cNvPr id="35" name="Shape 35"/>
          <p:cNvSpPr/>
          <p:nvPr/>
        </p:nvSpPr>
        <p:spPr>
          <a:xfrm>
            <a:off x="8641080" y="2103120"/>
            <a:ext cx="658368" cy="658368"/>
          </a:xfrm>
          <a:prstGeom prst="ellipse">
            <a:avLst/>
          </a:prstGeom>
          <a:solidFill>
            <a:srgbClr val="16A34A"/>
          </a:solidFill>
          <a:ln w="9525">
            <a:solidFill>
              <a:srgbClr val="FFFFFF"/>
            </a:solidFill>
          </a:ln>
        </p:spPr>
        <p:txBody>
          <a:bodyPr/>
          <a:lstStyle/>
          <a:p/>
        </p:txBody>
      </p:sp>
      <p:sp>
        <p:nvSpPr>
          <p:cNvPr id="36" name="TextBox 36"/>
          <p:cNvSpPr txBox="1"/>
          <p:nvPr/>
        </p:nvSpPr>
        <p:spPr>
          <a:xfrm>
            <a:off x="8641080" y="2221992"/>
            <a:ext cx="658368" cy="228600"/>
          </a:xfrm>
          <a:prstGeom prst="rect">
            <a:avLst/>
          </a:prstGeom>
          <a:noFill/>
          <a:ln>
            <a:noFill/>
          </a:ln>
        </p:spPr>
        <p:txBody>
          <a:bodyPr wrap="square" anchor="t"/>
          <a:lstStyle/>
          <a:p>
            <a:pPr algn="ctr"/>
            <a:r>
              <a:rPr lang="vi-VN" sz="1800" b="1">
                <a:solidFill>
                  <a:srgbClr val="FFFFFF"/>
                </a:solidFill>
                <a:latin typeface="Aptos"/>
              </a:rPr>
              <a:t>6</a:t>
            </a:r>
            <a:endParaRPr lang="vi-VN" sz="1800"/>
          </a:p>
        </p:txBody>
      </p:sp>
      <p:sp>
        <p:nvSpPr>
          <p:cNvPr id="37" name="TextBox 37"/>
          <p:cNvSpPr txBox="1"/>
          <p:nvPr/>
        </p:nvSpPr>
        <p:spPr>
          <a:xfrm>
            <a:off x="8321040" y="2926080"/>
            <a:ext cx="1325880" cy="685800"/>
          </a:xfrm>
          <a:prstGeom prst="rect">
            <a:avLst/>
          </a:prstGeom>
          <a:noFill/>
          <a:ln>
            <a:noFill/>
          </a:ln>
        </p:spPr>
        <p:txBody>
          <a:bodyPr wrap="square" anchor="t"/>
          <a:lstStyle/>
          <a:p>
            <a:pPr algn="ctr"/>
            <a:r>
              <a:rPr lang="vi-VN" sz="1400" b="1">
                <a:solidFill>
                  <a:srgbClr val="0F172A"/>
                </a:solidFill>
                <a:latin typeface="Aptos"/>
              </a:rPr>
              <a:t>Transporter</a:t>
            </a:r>
            <a:endParaRPr lang="vi-VN" sz="1400"/>
          </a:p>
          <a:p>
            <a:pPr algn="ctr"/>
            <a:r>
              <a:rPr lang="vi-VN" sz="1400" b="1">
                <a:solidFill>
                  <a:srgbClr val="0F172A"/>
                </a:solidFill>
                <a:latin typeface="Aptos"/>
              </a:rPr>
              <a:t>giao hàng</a:t>
            </a:r>
            <a:endParaRPr lang="vi-VN" sz="1400"/>
          </a:p>
        </p:txBody>
      </p:sp>
      <p:sp>
        <p:nvSpPr>
          <p:cNvPr id="65" name="Shape 65"/>
          <p:cNvSpPr/>
          <p:nvPr/>
        </p:nvSpPr>
        <p:spPr>
          <a:xfrm>
            <a:off x="9390888" y="2395728"/>
            <a:ext cx="749808" cy="73152"/>
          </a:xfrm>
          <a:prstGeom prst="rect">
            <a:avLst/>
          </a:prstGeom>
          <a:solidFill>
            <a:srgbClr val="CBD5E1"/>
          </a:solidFill>
          <a:ln w="9525">
            <a:solidFill>
              <a:srgbClr val="CBD5E1"/>
            </a:solidFill>
          </a:ln>
        </p:spPr>
        <p:txBody>
          <a:bodyPr/>
          <a:lstStyle/>
          <a:p/>
        </p:txBody>
      </p:sp>
      <p:sp>
        <p:nvSpPr>
          <p:cNvPr id="38" name="Shape 38"/>
          <p:cNvSpPr/>
          <p:nvPr/>
        </p:nvSpPr>
        <p:spPr>
          <a:xfrm>
            <a:off x="10268712" y="2103120"/>
            <a:ext cx="658368" cy="658368"/>
          </a:xfrm>
          <a:prstGeom prst="ellipse">
            <a:avLst/>
          </a:prstGeom>
          <a:solidFill>
            <a:srgbClr val="16A34A"/>
          </a:solidFill>
          <a:ln w="9525">
            <a:solidFill>
              <a:srgbClr val="FFFFFF"/>
            </a:solidFill>
          </a:ln>
        </p:spPr>
        <p:txBody>
          <a:bodyPr/>
          <a:lstStyle/>
          <a:p/>
        </p:txBody>
      </p:sp>
      <p:sp>
        <p:nvSpPr>
          <p:cNvPr id="39" name="TextBox 39"/>
          <p:cNvSpPr txBox="1"/>
          <p:nvPr/>
        </p:nvSpPr>
        <p:spPr>
          <a:xfrm>
            <a:off x="10268712" y="2221992"/>
            <a:ext cx="658368" cy="228600"/>
          </a:xfrm>
          <a:prstGeom prst="rect">
            <a:avLst/>
          </a:prstGeom>
          <a:noFill/>
          <a:ln>
            <a:noFill/>
          </a:ln>
        </p:spPr>
        <p:txBody>
          <a:bodyPr wrap="square" anchor="t"/>
          <a:lstStyle/>
          <a:p>
            <a:pPr algn="ctr"/>
            <a:r>
              <a:rPr lang="vi-VN" sz="1800" b="1">
                <a:solidFill>
                  <a:srgbClr val="FFFFFF"/>
                </a:solidFill>
                <a:latin typeface="Aptos"/>
              </a:rPr>
              <a:t>7</a:t>
            </a:r>
            <a:endParaRPr lang="vi-VN" sz="1800"/>
          </a:p>
        </p:txBody>
      </p:sp>
      <p:sp>
        <p:nvSpPr>
          <p:cNvPr id="40" name="TextBox 40"/>
          <p:cNvSpPr txBox="1"/>
          <p:nvPr/>
        </p:nvSpPr>
        <p:spPr>
          <a:xfrm>
            <a:off x="9948672" y="2926080"/>
            <a:ext cx="1325880" cy="685800"/>
          </a:xfrm>
          <a:prstGeom prst="rect">
            <a:avLst/>
          </a:prstGeom>
          <a:noFill/>
          <a:ln>
            <a:noFill/>
          </a:ln>
        </p:spPr>
        <p:txBody>
          <a:bodyPr wrap="square" anchor="t"/>
          <a:lstStyle/>
          <a:p>
            <a:pPr algn="ctr"/>
            <a:r>
              <a:rPr lang="vi-VN" sz="1400" b="1">
                <a:solidFill>
                  <a:srgbClr val="0F172A"/>
                </a:solidFill>
                <a:latin typeface="Aptos"/>
              </a:rPr>
              <a:t>User</a:t>
            </a:r>
            <a:endParaRPr lang="vi-VN" sz="1400"/>
          </a:p>
          <a:p>
            <a:pPr algn="ctr"/>
            <a:r>
              <a:rPr lang="vi-VN" sz="1400" b="1">
                <a:solidFill>
                  <a:srgbClr val="0F172A"/>
                </a:solidFill>
                <a:latin typeface="Aptos"/>
              </a:rPr>
              <a:t>quét truy xuất</a:t>
            </a:r>
            <a:endParaRPr lang="vi-VN" sz="1400"/>
          </a:p>
        </p:txBody>
      </p:sp>
      <p:sp>
        <p:nvSpPr>
          <p:cNvPr id="80" name="Shape 80"/>
          <p:cNvSpPr/>
          <p:nvPr/>
        </p:nvSpPr>
        <p:spPr>
          <a:xfrm>
            <a:off x="1051560" y="4572000"/>
            <a:ext cx="10058400" cy="914400"/>
          </a:xfrm>
          <a:prstGeom prst="roundRect">
            <a:avLst/>
          </a:prstGeom>
          <a:solidFill>
            <a:srgbClr val="FFFFFF"/>
          </a:solidFill>
          <a:ln w="9525">
            <a:solidFill>
              <a:srgbClr val="E2E8F0"/>
            </a:solidFill>
          </a:ln>
        </p:spPr>
        <p:txBody>
          <a:bodyPr/>
          <a:lstStyle/>
          <a:p/>
        </p:txBody>
      </p:sp>
      <p:sp>
        <p:nvSpPr>
          <p:cNvPr id="81" name="Shape 81"/>
          <p:cNvSpPr/>
          <p:nvPr/>
        </p:nvSpPr>
        <p:spPr>
          <a:xfrm>
            <a:off x="1051560" y="4572000"/>
            <a:ext cx="73152" cy="914400"/>
          </a:xfrm>
          <a:prstGeom prst="rect">
            <a:avLst/>
          </a:prstGeom>
          <a:solidFill>
            <a:srgbClr val="16A34A"/>
          </a:solidFill>
          <a:ln w="9525">
            <a:solidFill>
              <a:srgbClr val="16A34A"/>
            </a:solidFill>
          </a:ln>
        </p:spPr>
        <p:txBody>
          <a:bodyPr/>
          <a:lstStyle/>
          <a:p/>
        </p:txBody>
      </p:sp>
      <p:sp>
        <p:nvSpPr>
          <p:cNvPr id="82" name="TextBox 82"/>
          <p:cNvSpPr txBox="1"/>
          <p:nvPr/>
        </p:nvSpPr>
        <p:spPr>
          <a:xfrm>
            <a:off x="1280160" y="4736592"/>
            <a:ext cx="9646920" cy="320040"/>
          </a:xfrm>
          <a:prstGeom prst="rect">
            <a:avLst/>
          </a:prstGeom>
          <a:noFill/>
          <a:ln>
            <a:noFill/>
          </a:ln>
        </p:spPr>
        <p:txBody>
          <a:bodyPr wrap="square" anchor="t"/>
          <a:lstStyle/>
          <a:p>
            <a:pPr algn="l"/>
            <a:r>
              <a:rPr lang="vi-VN" sz="1600" b="1">
                <a:solidFill>
                  <a:srgbClr val="0F172A"/>
                </a:solidFill>
                <a:latin typeface="Aptos"/>
              </a:rPr>
              <a:t>Ý nghĩa của luồng</a:t>
            </a:r>
            <a:endParaRPr lang="vi-VN" sz="1600"/>
          </a:p>
        </p:txBody>
      </p:sp>
      <p:sp>
        <p:nvSpPr>
          <p:cNvPr id="83" name="TextBox 83"/>
          <p:cNvSpPr txBox="1"/>
          <p:nvPr/>
        </p:nvSpPr>
        <p:spPr>
          <a:xfrm>
            <a:off x="1280160" y="5138928"/>
            <a:ext cx="9646920" cy="274320"/>
          </a:xfrm>
          <a:prstGeom prst="rect">
            <a:avLst/>
          </a:prstGeom>
          <a:noFill/>
          <a:ln>
            <a:noFill/>
          </a:ln>
        </p:spPr>
        <p:txBody>
          <a:bodyPr wrap="square" anchor="t"/>
          <a:lstStyle/>
          <a:p>
            <a:pPr algn="l"/>
            <a:r>
              <a:rPr lang="vi-VN" sz="1300">
                <a:solidFill>
                  <a:srgbClr val="475569"/>
                </a:solidFill>
                <a:latin typeface="Aptos"/>
              </a:rPr>
              <a:t>Hệ thống mô phỏng được chuỗi cung ứng nhiều vai trò, nhiều trạng thái, không chỉ là quản lý dữ liệu đơn lẻ.</a:t>
            </a:r>
            <a:endParaRPr lang="vi-VN" sz="13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502920" y="256032"/>
            <a:ext cx="9875520" cy="411480"/>
          </a:xfrm>
          <a:prstGeom prst="rect">
            <a:avLst/>
          </a:prstGeom>
          <a:noFill/>
          <a:ln>
            <a:noFill/>
          </a:ln>
        </p:spPr>
        <p:txBody>
          <a:bodyPr wrap="square" anchor="t"/>
          <a:lstStyle/>
          <a:p>
            <a:pPr algn="l"/>
            <a:r>
              <a:rPr lang="vi-VN" sz="2500" b="1">
                <a:solidFill>
                  <a:srgbClr val="0F172A"/>
                </a:solidFill>
                <a:latin typeface="Aptos"/>
              </a:rPr>
              <a:t>Mô hình truy xuất nguồn gốc</a:t>
            </a:r>
            <a:endParaRPr lang="vi-VN" sz="2500"/>
          </a:p>
        </p:txBody>
      </p:sp>
      <p:sp>
        <p:nvSpPr>
          <p:cNvPr id="3" name="TextBox 3"/>
          <p:cNvSpPr txBox="1"/>
          <p:nvPr/>
        </p:nvSpPr>
        <p:spPr>
          <a:xfrm>
            <a:off x="521207" y="713232"/>
            <a:ext cx="9601200" cy="292608"/>
          </a:xfrm>
          <a:prstGeom prst="rect">
            <a:avLst/>
          </a:prstGeom>
          <a:noFill/>
          <a:ln>
            <a:noFill/>
          </a:ln>
        </p:spPr>
        <p:txBody>
          <a:bodyPr wrap="square" anchor="t"/>
          <a:lstStyle/>
          <a:p>
            <a:pPr algn="l"/>
            <a:r>
              <a:rPr lang="vi-VN" sz="1200">
                <a:solidFill>
                  <a:srgbClr val="475569"/>
                </a:solidFill>
                <a:latin typeface="Aptos"/>
              </a:rPr>
              <a:t>Truy ngược từ sản phẩm cuối cùng về nguyên liệu đầu vào</a:t>
            </a:r>
            <a:endParaRPr lang="vi-VN" sz="1200"/>
          </a:p>
        </p:txBody>
      </p:sp>
      <p:sp>
        <p:nvSpPr>
          <p:cNvPr id="4" name="Shape 4"/>
          <p:cNvSpPr/>
          <p:nvPr/>
        </p:nvSpPr>
        <p:spPr>
          <a:xfrm>
            <a:off x="502920" y="1024128"/>
            <a:ext cx="1051560" cy="45720"/>
          </a:xfrm>
          <a:prstGeom prst="rect">
            <a:avLst/>
          </a:prstGeom>
          <a:solidFill>
            <a:srgbClr val="2563EB"/>
          </a:solidFill>
          <a:ln w="9525">
            <a:solidFill>
              <a:srgbClr val="2563EB"/>
            </a:solidFill>
          </a:ln>
        </p:spPr>
        <p:txBody>
          <a:bodyPr/>
          <a:lstStyle/>
          <a:p/>
        </p:txBody>
      </p:sp>
      <p:sp>
        <p:nvSpPr>
          <p:cNvPr id="20" name="Shape 20"/>
          <p:cNvSpPr/>
          <p:nvPr/>
        </p:nvSpPr>
        <p:spPr>
          <a:xfrm>
            <a:off x="594360" y="1828800"/>
            <a:ext cx="1353312" cy="960120"/>
          </a:xfrm>
          <a:prstGeom prst="roundRect">
            <a:avLst/>
          </a:prstGeom>
          <a:solidFill>
            <a:srgbClr val="DCFCE7"/>
          </a:solidFill>
          <a:ln w="9525">
            <a:solidFill>
              <a:srgbClr val="E2E8F0"/>
            </a:solidFill>
          </a:ln>
        </p:spPr>
        <p:txBody>
          <a:bodyPr/>
          <a:lstStyle/>
          <a:p/>
        </p:txBody>
      </p:sp>
      <p:sp>
        <p:nvSpPr>
          <p:cNvPr id="21" name="TextBox 21"/>
          <p:cNvSpPr txBox="1"/>
          <p:nvPr/>
        </p:nvSpPr>
        <p:spPr>
          <a:xfrm>
            <a:off x="667512" y="1993392"/>
            <a:ext cx="1207008" cy="274320"/>
          </a:xfrm>
          <a:prstGeom prst="rect">
            <a:avLst/>
          </a:prstGeom>
          <a:noFill/>
          <a:ln>
            <a:noFill/>
          </a:ln>
        </p:spPr>
        <p:txBody>
          <a:bodyPr wrap="square" anchor="t"/>
          <a:lstStyle/>
          <a:p>
            <a:pPr algn="ctr"/>
            <a:r>
              <a:rPr lang="vi-VN" sz="1300" b="1">
                <a:solidFill>
                  <a:srgbClr val="0F172A"/>
                </a:solidFill>
                <a:latin typeface="Aptos"/>
              </a:rPr>
              <a:t>Raw Batch</a:t>
            </a:r>
            <a:endParaRPr lang="vi-VN" sz="1300"/>
          </a:p>
        </p:txBody>
      </p:sp>
      <p:sp>
        <p:nvSpPr>
          <p:cNvPr id="22" name="TextBox 22"/>
          <p:cNvSpPr txBox="1"/>
          <p:nvPr/>
        </p:nvSpPr>
        <p:spPr>
          <a:xfrm>
            <a:off x="667512" y="2331720"/>
            <a:ext cx="1207008" cy="228600"/>
          </a:xfrm>
          <a:prstGeom prst="rect">
            <a:avLst/>
          </a:prstGeom>
          <a:noFill/>
          <a:ln>
            <a:noFill/>
          </a:ln>
        </p:spPr>
        <p:txBody>
          <a:bodyPr wrap="square" anchor="t"/>
          <a:lstStyle/>
          <a:p>
            <a:pPr algn="ctr"/>
            <a:r>
              <a:rPr lang="vi-VN" sz="1000">
                <a:solidFill>
                  <a:srgbClr val="475569"/>
                </a:solidFill>
                <a:latin typeface="Aptos"/>
              </a:rPr>
              <a:t>Lô nguyên liệu</a:t>
            </a:r>
            <a:endParaRPr lang="vi-VN" sz="1000"/>
          </a:p>
        </p:txBody>
      </p:sp>
      <p:sp>
        <p:nvSpPr>
          <p:cNvPr id="23" name="Shape 23"/>
          <p:cNvSpPr/>
          <p:nvPr/>
        </p:nvSpPr>
        <p:spPr>
          <a:xfrm>
            <a:off x="1984248" y="2286000"/>
            <a:ext cx="438912" cy="54864"/>
          </a:xfrm>
          <a:prstGeom prst="rect">
            <a:avLst/>
          </a:prstGeom>
          <a:solidFill>
            <a:srgbClr val="16A34A"/>
          </a:solidFill>
          <a:ln w="9525">
            <a:solidFill>
              <a:srgbClr val="16A34A"/>
            </a:solidFill>
          </a:ln>
        </p:spPr>
        <p:txBody>
          <a:bodyPr/>
          <a:lstStyle/>
          <a:p/>
        </p:txBody>
      </p:sp>
      <p:sp>
        <p:nvSpPr>
          <p:cNvPr id="24" name="Shape 24"/>
          <p:cNvSpPr/>
          <p:nvPr/>
        </p:nvSpPr>
        <p:spPr>
          <a:xfrm>
            <a:off x="2496312" y="1828800"/>
            <a:ext cx="1353312" cy="960120"/>
          </a:xfrm>
          <a:prstGeom prst="roundRect">
            <a:avLst/>
          </a:prstGeom>
          <a:solidFill>
            <a:srgbClr val="DCFCE7"/>
          </a:solidFill>
          <a:ln w="9525">
            <a:solidFill>
              <a:srgbClr val="E2E8F0"/>
            </a:solidFill>
          </a:ln>
        </p:spPr>
        <p:txBody>
          <a:bodyPr/>
          <a:lstStyle/>
          <a:p/>
        </p:txBody>
      </p:sp>
      <p:sp>
        <p:nvSpPr>
          <p:cNvPr id="25" name="TextBox 25"/>
          <p:cNvSpPr txBox="1"/>
          <p:nvPr/>
        </p:nvSpPr>
        <p:spPr>
          <a:xfrm>
            <a:off x="2569464" y="1993392"/>
            <a:ext cx="1207008" cy="274320"/>
          </a:xfrm>
          <a:prstGeom prst="rect">
            <a:avLst/>
          </a:prstGeom>
          <a:noFill/>
          <a:ln>
            <a:noFill/>
          </a:ln>
        </p:spPr>
        <p:txBody>
          <a:bodyPr wrap="square" anchor="t"/>
          <a:lstStyle/>
          <a:p>
            <a:pPr algn="ctr"/>
            <a:r>
              <a:rPr lang="vi-VN" sz="1300" b="1">
                <a:solidFill>
                  <a:srgbClr val="0F172A"/>
                </a:solidFill>
                <a:latin typeface="Aptos"/>
              </a:rPr>
              <a:t>Pallet</a:t>
            </a:r>
            <a:endParaRPr lang="vi-VN" sz="1300"/>
          </a:p>
        </p:txBody>
      </p:sp>
      <p:sp>
        <p:nvSpPr>
          <p:cNvPr id="26" name="TextBox 26"/>
          <p:cNvSpPr txBox="1"/>
          <p:nvPr/>
        </p:nvSpPr>
        <p:spPr>
          <a:xfrm>
            <a:off x="2569464" y="2331720"/>
            <a:ext cx="1207008" cy="228600"/>
          </a:xfrm>
          <a:prstGeom prst="rect">
            <a:avLst/>
          </a:prstGeom>
          <a:noFill/>
          <a:ln>
            <a:noFill/>
          </a:ln>
        </p:spPr>
        <p:txBody>
          <a:bodyPr wrap="square" anchor="t"/>
          <a:lstStyle/>
          <a:p>
            <a:pPr algn="ctr"/>
            <a:r>
              <a:rPr lang="vi-VN" sz="1000">
                <a:solidFill>
                  <a:srgbClr val="475569"/>
                </a:solidFill>
                <a:latin typeface="Aptos"/>
              </a:rPr>
              <a:t>Lô sản xuất</a:t>
            </a:r>
            <a:endParaRPr lang="vi-VN" sz="1000"/>
          </a:p>
        </p:txBody>
      </p:sp>
      <p:sp>
        <p:nvSpPr>
          <p:cNvPr id="27" name="Shape 27"/>
          <p:cNvSpPr/>
          <p:nvPr/>
        </p:nvSpPr>
        <p:spPr>
          <a:xfrm>
            <a:off x="3886200" y="2286000"/>
            <a:ext cx="438912" cy="54864"/>
          </a:xfrm>
          <a:prstGeom prst="rect">
            <a:avLst/>
          </a:prstGeom>
          <a:solidFill>
            <a:srgbClr val="16A34A"/>
          </a:solidFill>
          <a:ln w="9525">
            <a:solidFill>
              <a:srgbClr val="16A34A"/>
            </a:solidFill>
          </a:ln>
        </p:spPr>
        <p:txBody>
          <a:bodyPr/>
          <a:lstStyle/>
          <a:p/>
        </p:txBody>
      </p:sp>
      <p:sp>
        <p:nvSpPr>
          <p:cNvPr id="28" name="Shape 28"/>
          <p:cNvSpPr/>
          <p:nvPr/>
        </p:nvSpPr>
        <p:spPr>
          <a:xfrm>
            <a:off x="4398264" y="1828800"/>
            <a:ext cx="1353312" cy="960120"/>
          </a:xfrm>
          <a:prstGeom prst="roundRect">
            <a:avLst/>
          </a:prstGeom>
          <a:solidFill>
            <a:srgbClr val="DBEAFE"/>
          </a:solidFill>
          <a:ln w="9525">
            <a:solidFill>
              <a:srgbClr val="E2E8F0"/>
            </a:solidFill>
          </a:ln>
        </p:spPr>
        <p:txBody>
          <a:bodyPr/>
          <a:lstStyle/>
          <a:p/>
        </p:txBody>
      </p:sp>
      <p:sp>
        <p:nvSpPr>
          <p:cNvPr id="29" name="TextBox 29"/>
          <p:cNvSpPr txBox="1"/>
          <p:nvPr/>
        </p:nvSpPr>
        <p:spPr>
          <a:xfrm>
            <a:off x="4471416" y="1993392"/>
            <a:ext cx="1207008" cy="274320"/>
          </a:xfrm>
          <a:prstGeom prst="rect">
            <a:avLst/>
          </a:prstGeom>
          <a:noFill/>
          <a:ln>
            <a:noFill/>
          </a:ln>
        </p:spPr>
        <p:txBody>
          <a:bodyPr wrap="square" anchor="t"/>
          <a:lstStyle/>
          <a:p>
            <a:pPr algn="ctr"/>
            <a:r>
              <a:rPr lang="vi-VN" sz="1300" b="1">
                <a:solidFill>
                  <a:srgbClr val="0F172A"/>
                </a:solidFill>
                <a:latin typeface="Aptos"/>
              </a:rPr>
              <a:t>Carton</a:t>
            </a:r>
            <a:endParaRPr lang="vi-VN" sz="1300"/>
          </a:p>
        </p:txBody>
      </p:sp>
      <p:sp>
        <p:nvSpPr>
          <p:cNvPr id="30" name="TextBox 30"/>
          <p:cNvSpPr txBox="1"/>
          <p:nvPr/>
        </p:nvSpPr>
        <p:spPr>
          <a:xfrm>
            <a:off x="4471416" y="2331720"/>
            <a:ext cx="1207008" cy="228600"/>
          </a:xfrm>
          <a:prstGeom prst="rect">
            <a:avLst/>
          </a:prstGeom>
          <a:noFill/>
          <a:ln>
            <a:noFill/>
          </a:ln>
        </p:spPr>
        <p:txBody>
          <a:bodyPr wrap="square" anchor="t"/>
          <a:lstStyle/>
          <a:p>
            <a:pPr algn="ctr"/>
            <a:r>
              <a:rPr lang="vi-VN" sz="1000">
                <a:solidFill>
                  <a:srgbClr val="475569"/>
                </a:solidFill>
                <a:latin typeface="Aptos"/>
              </a:rPr>
              <a:t>Thùng hàng</a:t>
            </a:r>
            <a:endParaRPr lang="vi-VN" sz="1000"/>
          </a:p>
        </p:txBody>
      </p:sp>
      <p:sp>
        <p:nvSpPr>
          <p:cNvPr id="31" name="Shape 31"/>
          <p:cNvSpPr/>
          <p:nvPr/>
        </p:nvSpPr>
        <p:spPr>
          <a:xfrm>
            <a:off x="5788152" y="2286000"/>
            <a:ext cx="438912" cy="54864"/>
          </a:xfrm>
          <a:prstGeom prst="rect">
            <a:avLst/>
          </a:prstGeom>
          <a:solidFill>
            <a:srgbClr val="2563EB"/>
          </a:solidFill>
          <a:ln w="9525">
            <a:solidFill>
              <a:srgbClr val="2563EB"/>
            </a:solidFill>
          </a:ln>
        </p:spPr>
        <p:txBody>
          <a:bodyPr/>
          <a:lstStyle/>
          <a:p/>
        </p:txBody>
      </p:sp>
      <p:sp>
        <p:nvSpPr>
          <p:cNvPr id="32" name="Shape 32"/>
          <p:cNvSpPr/>
          <p:nvPr/>
        </p:nvSpPr>
        <p:spPr>
          <a:xfrm>
            <a:off x="6300216" y="1828800"/>
            <a:ext cx="1353312" cy="960120"/>
          </a:xfrm>
          <a:prstGeom prst="roundRect">
            <a:avLst/>
          </a:prstGeom>
          <a:solidFill>
            <a:srgbClr val="DBEAFE"/>
          </a:solidFill>
          <a:ln w="9525">
            <a:solidFill>
              <a:srgbClr val="E2E8F0"/>
            </a:solidFill>
          </a:ln>
        </p:spPr>
        <p:txBody>
          <a:bodyPr/>
          <a:lstStyle/>
          <a:p/>
        </p:txBody>
      </p:sp>
      <p:sp>
        <p:nvSpPr>
          <p:cNvPr id="33" name="TextBox 33"/>
          <p:cNvSpPr txBox="1"/>
          <p:nvPr/>
        </p:nvSpPr>
        <p:spPr>
          <a:xfrm>
            <a:off x="6373368" y="1993392"/>
            <a:ext cx="1207008" cy="274320"/>
          </a:xfrm>
          <a:prstGeom prst="rect">
            <a:avLst/>
          </a:prstGeom>
          <a:noFill/>
          <a:ln>
            <a:noFill/>
          </a:ln>
        </p:spPr>
        <p:txBody>
          <a:bodyPr wrap="square" anchor="t"/>
          <a:lstStyle/>
          <a:p>
            <a:pPr algn="ctr"/>
            <a:r>
              <a:rPr lang="vi-VN" sz="1300" b="1">
                <a:solidFill>
                  <a:srgbClr val="0F172A"/>
                </a:solidFill>
                <a:latin typeface="Aptos"/>
              </a:rPr>
              <a:t>Product Unit</a:t>
            </a:r>
            <a:endParaRPr lang="vi-VN" sz="1300"/>
          </a:p>
        </p:txBody>
      </p:sp>
      <p:sp>
        <p:nvSpPr>
          <p:cNvPr id="34" name="TextBox 34"/>
          <p:cNvSpPr txBox="1"/>
          <p:nvPr/>
        </p:nvSpPr>
        <p:spPr>
          <a:xfrm>
            <a:off x="6373368" y="2331720"/>
            <a:ext cx="1207008" cy="228600"/>
          </a:xfrm>
          <a:prstGeom prst="rect">
            <a:avLst/>
          </a:prstGeom>
          <a:noFill/>
          <a:ln>
            <a:noFill/>
          </a:ln>
        </p:spPr>
        <p:txBody>
          <a:bodyPr wrap="square" anchor="t"/>
          <a:lstStyle/>
          <a:p>
            <a:pPr algn="ctr"/>
            <a:r>
              <a:rPr lang="vi-VN" sz="1000">
                <a:solidFill>
                  <a:srgbClr val="475569"/>
                </a:solidFill>
                <a:latin typeface="Aptos"/>
              </a:rPr>
              <a:t>Sản phẩm lẻ</a:t>
            </a:r>
            <a:endParaRPr lang="vi-VN" sz="1000"/>
          </a:p>
        </p:txBody>
      </p:sp>
      <p:sp>
        <p:nvSpPr>
          <p:cNvPr id="35" name="Shape 35"/>
          <p:cNvSpPr/>
          <p:nvPr/>
        </p:nvSpPr>
        <p:spPr>
          <a:xfrm>
            <a:off x="7690104" y="2286000"/>
            <a:ext cx="438912" cy="54864"/>
          </a:xfrm>
          <a:prstGeom prst="rect">
            <a:avLst/>
          </a:prstGeom>
          <a:solidFill>
            <a:srgbClr val="2563EB"/>
          </a:solidFill>
          <a:ln w="9525">
            <a:solidFill>
              <a:srgbClr val="2563EB"/>
            </a:solidFill>
          </a:ln>
        </p:spPr>
        <p:txBody>
          <a:bodyPr/>
          <a:lstStyle/>
          <a:p/>
        </p:txBody>
      </p:sp>
      <p:sp>
        <p:nvSpPr>
          <p:cNvPr id="36" name="Shape 36"/>
          <p:cNvSpPr/>
          <p:nvPr/>
        </p:nvSpPr>
        <p:spPr>
          <a:xfrm>
            <a:off x="8202168" y="1828800"/>
            <a:ext cx="1353312" cy="960120"/>
          </a:xfrm>
          <a:prstGeom prst="roundRect">
            <a:avLst/>
          </a:prstGeom>
          <a:solidFill>
            <a:srgbClr val="FFEDD5"/>
          </a:solidFill>
          <a:ln w="9525">
            <a:solidFill>
              <a:srgbClr val="E2E8F0"/>
            </a:solidFill>
          </a:ln>
        </p:spPr>
        <p:txBody>
          <a:bodyPr/>
          <a:lstStyle/>
          <a:p/>
        </p:txBody>
      </p:sp>
      <p:sp>
        <p:nvSpPr>
          <p:cNvPr id="37" name="TextBox 37"/>
          <p:cNvSpPr txBox="1"/>
          <p:nvPr/>
        </p:nvSpPr>
        <p:spPr>
          <a:xfrm>
            <a:off x="8275320" y="1993392"/>
            <a:ext cx="1207008" cy="274320"/>
          </a:xfrm>
          <a:prstGeom prst="rect">
            <a:avLst/>
          </a:prstGeom>
          <a:noFill/>
          <a:ln>
            <a:noFill/>
          </a:ln>
        </p:spPr>
        <p:txBody>
          <a:bodyPr wrap="square" anchor="t"/>
          <a:lstStyle/>
          <a:p>
            <a:pPr algn="ctr"/>
            <a:r>
              <a:rPr lang="vi-VN" sz="1300" b="1">
                <a:solidFill>
                  <a:srgbClr val="0F172A"/>
                </a:solidFill>
                <a:latin typeface="Aptos"/>
              </a:rPr>
              <a:t>QR / Serial</a:t>
            </a:r>
            <a:endParaRPr lang="vi-VN" sz="1300"/>
          </a:p>
        </p:txBody>
      </p:sp>
      <p:sp>
        <p:nvSpPr>
          <p:cNvPr id="38" name="TextBox 38"/>
          <p:cNvSpPr txBox="1"/>
          <p:nvPr/>
        </p:nvSpPr>
        <p:spPr>
          <a:xfrm>
            <a:off x="8275320" y="2331720"/>
            <a:ext cx="1207008" cy="228600"/>
          </a:xfrm>
          <a:prstGeom prst="rect">
            <a:avLst/>
          </a:prstGeom>
          <a:noFill/>
          <a:ln>
            <a:noFill/>
          </a:ln>
        </p:spPr>
        <p:txBody>
          <a:bodyPr wrap="square" anchor="t"/>
          <a:lstStyle/>
          <a:p>
            <a:pPr algn="ctr"/>
            <a:r>
              <a:rPr lang="vi-VN" sz="1000">
                <a:solidFill>
                  <a:srgbClr val="475569"/>
                </a:solidFill>
                <a:latin typeface="Aptos"/>
              </a:rPr>
              <a:t>Mã truy xuất</a:t>
            </a:r>
            <a:endParaRPr lang="vi-VN" sz="1000"/>
          </a:p>
        </p:txBody>
      </p:sp>
      <p:sp>
        <p:nvSpPr>
          <p:cNvPr id="39" name="Shape 39"/>
          <p:cNvSpPr/>
          <p:nvPr/>
        </p:nvSpPr>
        <p:spPr>
          <a:xfrm>
            <a:off x="9592056" y="2286000"/>
            <a:ext cx="438912" cy="54864"/>
          </a:xfrm>
          <a:prstGeom prst="rect">
            <a:avLst/>
          </a:prstGeom>
          <a:solidFill>
            <a:srgbClr val="F97316"/>
          </a:solidFill>
          <a:ln w="9525">
            <a:solidFill>
              <a:srgbClr val="F97316"/>
            </a:solidFill>
          </a:ln>
        </p:spPr>
        <p:txBody>
          <a:bodyPr/>
          <a:lstStyle/>
          <a:p/>
        </p:txBody>
      </p:sp>
      <p:sp>
        <p:nvSpPr>
          <p:cNvPr id="40" name="Shape 40"/>
          <p:cNvSpPr/>
          <p:nvPr/>
        </p:nvSpPr>
        <p:spPr>
          <a:xfrm>
            <a:off x="10104120" y="1828800"/>
            <a:ext cx="1353312" cy="960120"/>
          </a:xfrm>
          <a:prstGeom prst="roundRect">
            <a:avLst/>
          </a:prstGeom>
          <a:solidFill>
            <a:srgbClr val="FFEDD5"/>
          </a:solidFill>
          <a:ln w="9525">
            <a:solidFill>
              <a:srgbClr val="E2E8F0"/>
            </a:solidFill>
          </a:ln>
        </p:spPr>
        <p:txBody>
          <a:bodyPr/>
          <a:lstStyle/>
          <a:p/>
        </p:txBody>
      </p:sp>
      <p:sp>
        <p:nvSpPr>
          <p:cNvPr id="41" name="TextBox 41"/>
          <p:cNvSpPr txBox="1"/>
          <p:nvPr/>
        </p:nvSpPr>
        <p:spPr>
          <a:xfrm>
            <a:off x="10177272" y="1993392"/>
            <a:ext cx="1207008" cy="274320"/>
          </a:xfrm>
          <a:prstGeom prst="rect">
            <a:avLst/>
          </a:prstGeom>
          <a:noFill/>
          <a:ln>
            <a:noFill/>
          </a:ln>
        </p:spPr>
        <p:txBody>
          <a:bodyPr wrap="square" anchor="t"/>
          <a:lstStyle/>
          <a:p>
            <a:pPr algn="ctr"/>
            <a:r>
              <a:rPr lang="vi-VN" sz="1300" b="1">
                <a:solidFill>
                  <a:srgbClr val="0F172A"/>
                </a:solidFill>
                <a:latin typeface="Aptos"/>
              </a:rPr>
              <a:t>User Scan</a:t>
            </a:r>
            <a:endParaRPr lang="vi-VN" sz="1300"/>
          </a:p>
        </p:txBody>
      </p:sp>
      <p:sp>
        <p:nvSpPr>
          <p:cNvPr id="42" name="TextBox 42"/>
          <p:cNvSpPr txBox="1"/>
          <p:nvPr/>
        </p:nvSpPr>
        <p:spPr>
          <a:xfrm>
            <a:off x="10177272" y="2331720"/>
            <a:ext cx="1207008" cy="228600"/>
          </a:xfrm>
          <a:prstGeom prst="rect">
            <a:avLst/>
          </a:prstGeom>
          <a:noFill/>
          <a:ln>
            <a:noFill/>
          </a:ln>
        </p:spPr>
        <p:txBody>
          <a:bodyPr wrap="square" anchor="t"/>
          <a:lstStyle/>
          <a:p>
            <a:pPr algn="ctr"/>
            <a:r>
              <a:rPr lang="vi-VN" sz="1000">
                <a:solidFill>
                  <a:srgbClr val="475569"/>
                </a:solidFill>
                <a:latin typeface="Aptos"/>
              </a:rPr>
              <a:t>Người dùng quét</a:t>
            </a:r>
            <a:endParaRPr lang="vi-VN" sz="1000"/>
          </a:p>
        </p:txBody>
      </p:sp>
      <p:sp>
        <p:nvSpPr>
          <p:cNvPr id="60" name="Shape 60"/>
          <p:cNvSpPr/>
          <p:nvPr/>
        </p:nvSpPr>
        <p:spPr>
          <a:xfrm>
            <a:off x="777240" y="3977639"/>
            <a:ext cx="5166360" cy="1143000"/>
          </a:xfrm>
          <a:prstGeom prst="roundRect">
            <a:avLst/>
          </a:prstGeom>
          <a:solidFill>
            <a:srgbClr val="FFFFFF"/>
          </a:solidFill>
          <a:ln w="9525">
            <a:solidFill>
              <a:srgbClr val="E2E8F0"/>
            </a:solidFill>
          </a:ln>
        </p:spPr>
        <p:txBody>
          <a:bodyPr/>
          <a:lstStyle/>
          <a:p/>
        </p:txBody>
      </p:sp>
      <p:sp>
        <p:nvSpPr>
          <p:cNvPr id="61" name="Shape 61"/>
          <p:cNvSpPr/>
          <p:nvPr/>
        </p:nvSpPr>
        <p:spPr>
          <a:xfrm>
            <a:off x="777240" y="3977639"/>
            <a:ext cx="73152" cy="1143000"/>
          </a:xfrm>
          <a:prstGeom prst="rect">
            <a:avLst/>
          </a:prstGeom>
          <a:solidFill>
            <a:srgbClr val="2563EB"/>
          </a:solidFill>
          <a:ln w="9525">
            <a:solidFill>
              <a:srgbClr val="2563EB"/>
            </a:solidFill>
          </a:ln>
        </p:spPr>
        <p:txBody>
          <a:bodyPr/>
          <a:lstStyle/>
          <a:p/>
        </p:txBody>
      </p:sp>
      <p:sp>
        <p:nvSpPr>
          <p:cNvPr id="62" name="TextBox 62"/>
          <p:cNvSpPr txBox="1"/>
          <p:nvPr/>
        </p:nvSpPr>
        <p:spPr>
          <a:xfrm>
            <a:off x="1005840" y="4142231"/>
            <a:ext cx="4754880" cy="320040"/>
          </a:xfrm>
          <a:prstGeom prst="rect">
            <a:avLst/>
          </a:prstGeom>
          <a:noFill/>
          <a:ln>
            <a:noFill/>
          </a:ln>
        </p:spPr>
        <p:txBody>
          <a:bodyPr wrap="square" anchor="t"/>
          <a:lstStyle/>
          <a:p>
            <a:pPr algn="l"/>
            <a:r>
              <a:rPr lang="vi-VN" sz="1600" b="1">
                <a:solidFill>
                  <a:srgbClr val="0F172A"/>
                </a:solidFill>
                <a:latin typeface="Aptos"/>
              </a:rPr>
              <a:t>Khi truy xuất</a:t>
            </a:r>
            <a:endParaRPr lang="vi-VN" sz="1600"/>
          </a:p>
        </p:txBody>
      </p:sp>
      <p:sp>
        <p:nvSpPr>
          <p:cNvPr id="63" name="TextBox 63"/>
          <p:cNvSpPr txBox="1"/>
          <p:nvPr/>
        </p:nvSpPr>
        <p:spPr>
          <a:xfrm>
            <a:off x="1005840" y="4544568"/>
            <a:ext cx="4754880" cy="502920"/>
          </a:xfrm>
          <a:prstGeom prst="rect">
            <a:avLst/>
          </a:prstGeom>
          <a:noFill/>
          <a:ln>
            <a:noFill/>
          </a:ln>
        </p:spPr>
        <p:txBody>
          <a:bodyPr wrap="square" anchor="t"/>
          <a:lstStyle/>
          <a:p>
            <a:pPr algn="l"/>
            <a:r>
              <a:rPr lang="vi-VN" sz="1300">
                <a:solidFill>
                  <a:srgbClr val="475569"/>
                </a:solidFill>
                <a:latin typeface="Aptos"/>
              </a:rPr>
              <a:t>Mobile gọi API để tổng hợp product, carton, pallet, raw batch và lịch sử chuyển giao thành timeline.</a:t>
            </a:r>
            <a:endParaRPr lang="vi-VN" sz="1300"/>
          </a:p>
        </p:txBody>
      </p:sp>
      <p:sp>
        <p:nvSpPr>
          <p:cNvPr id="64" name="Shape 64"/>
          <p:cNvSpPr/>
          <p:nvPr/>
        </p:nvSpPr>
        <p:spPr>
          <a:xfrm>
            <a:off x="6217920" y="3977639"/>
            <a:ext cx="5166360" cy="1143000"/>
          </a:xfrm>
          <a:prstGeom prst="roundRect">
            <a:avLst/>
          </a:prstGeom>
          <a:solidFill>
            <a:srgbClr val="FFFFFF"/>
          </a:solidFill>
          <a:ln w="9525">
            <a:solidFill>
              <a:srgbClr val="E2E8F0"/>
            </a:solidFill>
          </a:ln>
        </p:spPr>
        <p:txBody>
          <a:bodyPr/>
          <a:lstStyle/>
          <a:p/>
        </p:txBody>
      </p:sp>
      <p:sp>
        <p:nvSpPr>
          <p:cNvPr id="65" name="Shape 65"/>
          <p:cNvSpPr/>
          <p:nvPr/>
        </p:nvSpPr>
        <p:spPr>
          <a:xfrm>
            <a:off x="6217920" y="3977639"/>
            <a:ext cx="73152" cy="1143000"/>
          </a:xfrm>
          <a:prstGeom prst="rect">
            <a:avLst/>
          </a:prstGeom>
          <a:solidFill>
            <a:srgbClr val="16A34A"/>
          </a:solidFill>
          <a:ln w="9525">
            <a:solidFill>
              <a:srgbClr val="16A34A"/>
            </a:solidFill>
          </a:ln>
        </p:spPr>
        <p:txBody>
          <a:bodyPr/>
          <a:lstStyle/>
          <a:p/>
        </p:txBody>
      </p:sp>
      <p:sp>
        <p:nvSpPr>
          <p:cNvPr id="66" name="TextBox 66"/>
          <p:cNvSpPr txBox="1"/>
          <p:nvPr/>
        </p:nvSpPr>
        <p:spPr>
          <a:xfrm>
            <a:off x="6446520" y="4142231"/>
            <a:ext cx="4754880" cy="320040"/>
          </a:xfrm>
          <a:prstGeom prst="rect">
            <a:avLst/>
          </a:prstGeom>
          <a:noFill/>
          <a:ln>
            <a:noFill/>
          </a:ln>
        </p:spPr>
        <p:txBody>
          <a:bodyPr wrap="square" anchor="t"/>
          <a:lstStyle/>
          <a:p>
            <a:pPr algn="l"/>
            <a:r>
              <a:rPr lang="vi-VN" sz="1600" b="1">
                <a:solidFill>
                  <a:srgbClr val="0F172A"/>
                </a:solidFill>
                <a:latin typeface="Aptos"/>
              </a:rPr>
              <a:t>Khi xác minh</a:t>
            </a:r>
            <a:endParaRPr lang="vi-VN" sz="1600"/>
          </a:p>
        </p:txBody>
      </p:sp>
      <p:sp>
        <p:nvSpPr>
          <p:cNvPr id="67" name="TextBox 67"/>
          <p:cNvSpPr txBox="1"/>
          <p:nvPr/>
        </p:nvSpPr>
        <p:spPr>
          <a:xfrm>
            <a:off x="6446520" y="4544568"/>
            <a:ext cx="4754880" cy="502920"/>
          </a:xfrm>
          <a:prstGeom prst="rect">
            <a:avLst/>
          </a:prstGeom>
          <a:noFill/>
          <a:ln>
            <a:noFill/>
          </a:ln>
        </p:spPr>
        <p:txBody>
          <a:bodyPr wrap="square" anchor="t"/>
          <a:lstStyle/>
          <a:p>
            <a:pPr algn="l"/>
            <a:r>
              <a:rPr lang="vi-VN" sz="1300">
                <a:solidFill>
                  <a:srgbClr val="475569"/>
                </a:solidFill>
                <a:latin typeface="Aptos"/>
              </a:rPr>
              <a:t>Hệ thống tính lại hash từ dữ liệu hiện tại rồi so với hash đã ghi trên blockchain.</a:t>
            </a:r>
            <a:endParaRPr lang="vi-VN" sz="13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502920" y="256032"/>
            <a:ext cx="9875520" cy="411480"/>
          </a:xfrm>
          <a:prstGeom prst="rect">
            <a:avLst/>
          </a:prstGeom>
          <a:noFill/>
          <a:ln>
            <a:noFill/>
          </a:ln>
        </p:spPr>
        <p:txBody>
          <a:bodyPr wrap="square" anchor="t"/>
          <a:lstStyle/>
          <a:p>
            <a:pPr algn="l"/>
            <a:r>
              <a:rPr lang="vi-VN" sz="2500" b="1">
                <a:solidFill>
                  <a:srgbClr val="0F172A"/>
                </a:solidFill>
                <a:latin typeface="Aptos"/>
              </a:rPr>
              <a:t>Cơ chế blockchain và xác minh dữ liệu</a:t>
            </a:r>
            <a:endParaRPr lang="vi-VN" sz="2500"/>
          </a:p>
        </p:txBody>
      </p:sp>
      <p:sp>
        <p:nvSpPr>
          <p:cNvPr id="3" name="TextBox 3"/>
          <p:cNvSpPr txBox="1"/>
          <p:nvPr/>
        </p:nvSpPr>
        <p:spPr>
          <a:xfrm>
            <a:off x="521207" y="713232"/>
            <a:ext cx="9601200" cy="292608"/>
          </a:xfrm>
          <a:prstGeom prst="rect">
            <a:avLst/>
          </a:prstGeom>
          <a:noFill/>
          <a:ln>
            <a:noFill/>
          </a:ln>
        </p:spPr>
        <p:txBody>
          <a:bodyPr wrap="square" anchor="t"/>
          <a:lstStyle/>
          <a:p>
            <a:pPr algn="l"/>
            <a:r>
              <a:rPr lang="vi-VN" sz="1200">
                <a:solidFill>
                  <a:srgbClr val="475569"/>
                </a:solidFill>
                <a:latin typeface="Aptos"/>
              </a:rPr>
              <a:t>Blockchain không lưu toàn bộ dữ liệu, chỉ lưu hash để kiểm chứng</a:t>
            </a:r>
            <a:endParaRPr lang="vi-VN" sz="1200"/>
          </a:p>
        </p:txBody>
      </p:sp>
      <p:sp>
        <p:nvSpPr>
          <p:cNvPr id="4" name="Shape 4"/>
          <p:cNvSpPr/>
          <p:nvPr/>
        </p:nvSpPr>
        <p:spPr>
          <a:xfrm>
            <a:off x="502920" y="1024128"/>
            <a:ext cx="1051560" cy="45720"/>
          </a:xfrm>
          <a:prstGeom prst="rect">
            <a:avLst/>
          </a:prstGeom>
          <a:solidFill>
            <a:srgbClr val="2563EB"/>
          </a:solidFill>
          <a:ln w="9525">
            <a:solidFill>
              <a:srgbClr val="2563EB"/>
            </a:solidFill>
          </a:ln>
        </p:spPr>
        <p:txBody>
          <a:bodyPr/>
          <a:lstStyle/>
          <a:p/>
        </p:txBody>
      </p:sp>
      <p:sp>
        <p:nvSpPr>
          <p:cNvPr id="20" name="Shape 20"/>
          <p:cNvSpPr/>
          <p:nvPr/>
        </p:nvSpPr>
        <p:spPr>
          <a:xfrm>
            <a:off x="822960" y="1737360"/>
            <a:ext cx="2240280" cy="1234440"/>
          </a:xfrm>
          <a:prstGeom prst="roundRect">
            <a:avLst/>
          </a:prstGeom>
          <a:solidFill>
            <a:srgbClr val="FFFFFF"/>
          </a:solidFill>
          <a:ln w="9525">
            <a:solidFill>
              <a:srgbClr val="E2E8F0"/>
            </a:solidFill>
          </a:ln>
        </p:spPr>
        <p:txBody>
          <a:bodyPr/>
          <a:lstStyle/>
          <a:p/>
        </p:txBody>
      </p:sp>
      <p:sp>
        <p:nvSpPr>
          <p:cNvPr id="21" name="Shape 21"/>
          <p:cNvSpPr/>
          <p:nvPr/>
        </p:nvSpPr>
        <p:spPr>
          <a:xfrm>
            <a:off x="822960" y="1737360"/>
            <a:ext cx="73152" cy="1234440"/>
          </a:xfrm>
          <a:prstGeom prst="rect">
            <a:avLst/>
          </a:prstGeom>
          <a:solidFill>
            <a:srgbClr val="2563EB"/>
          </a:solidFill>
          <a:ln w="9525">
            <a:solidFill>
              <a:srgbClr val="2563EB"/>
            </a:solidFill>
          </a:ln>
        </p:spPr>
        <p:txBody>
          <a:bodyPr/>
          <a:lstStyle/>
          <a:p/>
        </p:txBody>
      </p:sp>
      <p:sp>
        <p:nvSpPr>
          <p:cNvPr id="22" name="TextBox 22"/>
          <p:cNvSpPr txBox="1"/>
          <p:nvPr/>
        </p:nvSpPr>
        <p:spPr>
          <a:xfrm>
            <a:off x="1051560" y="1901952"/>
            <a:ext cx="1828800" cy="320040"/>
          </a:xfrm>
          <a:prstGeom prst="rect">
            <a:avLst/>
          </a:prstGeom>
          <a:noFill/>
          <a:ln>
            <a:noFill/>
          </a:ln>
        </p:spPr>
        <p:txBody>
          <a:bodyPr wrap="square" anchor="t"/>
          <a:lstStyle/>
          <a:p>
            <a:pPr algn="l"/>
            <a:r>
              <a:rPr lang="vi-VN" sz="1600" b="1">
                <a:solidFill>
                  <a:srgbClr val="0F172A"/>
                </a:solidFill>
                <a:latin typeface="Aptos"/>
              </a:rPr>
              <a:t>PostgreSQL</a:t>
            </a:r>
            <a:endParaRPr lang="vi-VN" sz="1600"/>
          </a:p>
        </p:txBody>
      </p:sp>
      <p:sp>
        <p:nvSpPr>
          <p:cNvPr id="23" name="TextBox 23"/>
          <p:cNvSpPr txBox="1"/>
          <p:nvPr/>
        </p:nvSpPr>
        <p:spPr>
          <a:xfrm>
            <a:off x="1051560" y="2304288"/>
            <a:ext cx="1828800" cy="594360"/>
          </a:xfrm>
          <a:prstGeom prst="rect">
            <a:avLst/>
          </a:prstGeom>
          <a:noFill/>
          <a:ln>
            <a:noFill/>
          </a:ln>
        </p:spPr>
        <p:txBody>
          <a:bodyPr wrap="square" anchor="t"/>
          <a:lstStyle/>
          <a:p>
            <a:pPr algn="l"/>
            <a:r>
              <a:rPr lang="vi-VN" sz="1300">
                <a:solidFill>
                  <a:srgbClr val="475569"/>
                </a:solidFill>
                <a:latin typeface="Aptos"/>
              </a:rPr>
              <a:t>Lưu dữ liệu nghiệp vụ đầy đủ</a:t>
            </a:r>
            <a:endParaRPr lang="vi-VN" sz="1300"/>
          </a:p>
        </p:txBody>
      </p:sp>
      <p:sp>
        <p:nvSpPr>
          <p:cNvPr id="60" name="Shape 60"/>
          <p:cNvSpPr/>
          <p:nvPr/>
        </p:nvSpPr>
        <p:spPr>
          <a:xfrm>
            <a:off x="3127248" y="2331720"/>
            <a:ext cx="411480" cy="54864"/>
          </a:xfrm>
          <a:prstGeom prst="rect">
            <a:avLst/>
          </a:prstGeom>
          <a:solidFill>
            <a:srgbClr val="CBD5E1"/>
          </a:solidFill>
          <a:ln w="9525">
            <a:solidFill>
              <a:srgbClr val="CBD5E1"/>
            </a:solidFill>
          </a:ln>
        </p:spPr>
        <p:txBody>
          <a:bodyPr/>
          <a:lstStyle/>
          <a:p/>
        </p:txBody>
      </p:sp>
      <p:sp>
        <p:nvSpPr>
          <p:cNvPr id="24" name="Shape 24"/>
          <p:cNvSpPr/>
          <p:nvPr/>
        </p:nvSpPr>
        <p:spPr>
          <a:xfrm>
            <a:off x="3611879" y="1737360"/>
            <a:ext cx="2240280" cy="1234440"/>
          </a:xfrm>
          <a:prstGeom prst="roundRect">
            <a:avLst/>
          </a:prstGeom>
          <a:solidFill>
            <a:srgbClr val="FFFFFF"/>
          </a:solidFill>
          <a:ln w="9525">
            <a:solidFill>
              <a:srgbClr val="E2E8F0"/>
            </a:solidFill>
          </a:ln>
        </p:spPr>
        <p:txBody>
          <a:bodyPr/>
          <a:lstStyle/>
          <a:p/>
        </p:txBody>
      </p:sp>
      <p:sp>
        <p:nvSpPr>
          <p:cNvPr id="25" name="Shape 25"/>
          <p:cNvSpPr/>
          <p:nvPr/>
        </p:nvSpPr>
        <p:spPr>
          <a:xfrm>
            <a:off x="3611879" y="1737360"/>
            <a:ext cx="73152" cy="1234440"/>
          </a:xfrm>
          <a:prstGeom prst="rect">
            <a:avLst/>
          </a:prstGeom>
          <a:solidFill>
            <a:srgbClr val="2563EB"/>
          </a:solidFill>
          <a:ln w="9525">
            <a:solidFill>
              <a:srgbClr val="2563EB"/>
            </a:solidFill>
          </a:ln>
        </p:spPr>
        <p:txBody>
          <a:bodyPr/>
          <a:lstStyle/>
          <a:p/>
        </p:txBody>
      </p:sp>
      <p:sp>
        <p:nvSpPr>
          <p:cNvPr id="26" name="TextBox 26"/>
          <p:cNvSpPr txBox="1"/>
          <p:nvPr/>
        </p:nvSpPr>
        <p:spPr>
          <a:xfrm>
            <a:off x="3840479" y="1901952"/>
            <a:ext cx="1828800" cy="320040"/>
          </a:xfrm>
          <a:prstGeom prst="rect">
            <a:avLst/>
          </a:prstGeom>
          <a:noFill/>
          <a:ln>
            <a:noFill/>
          </a:ln>
        </p:spPr>
        <p:txBody>
          <a:bodyPr wrap="square" anchor="t"/>
          <a:lstStyle/>
          <a:p>
            <a:pPr algn="l"/>
            <a:r>
              <a:rPr lang="vi-VN" sz="1600" b="1">
                <a:solidFill>
                  <a:srgbClr val="0F172A"/>
                </a:solidFill>
                <a:latin typeface="Aptos"/>
              </a:rPr>
              <a:t>Keccak-256</a:t>
            </a:r>
            <a:endParaRPr lang="vi-VN" sz="1600"/>
          </a:p>
        </p:txBody>
      </p:sp>
      <p:sp>
        <p:nvSpPr>
          <p:cNvPr id="27" name="TextBox 27"/>
          <p:cNvSpPr txBox="1"/>
          <p:nvPr/>
        </p:nvSpPr>
        <p:spPr>
          <a:xfrm>
            <a:off x="3840479" y="2304288"/>
            <a:ext cx="1828800" cy="594360"/>
          </a:xfrm>
          <a:prstGeom prst="rect">
            <a:avLst/>
          </a:prstGeom>
          <a:noFill/>
          <a:ln>
            <a:noFill/>
          </a:ln>
        </p:spPr>
        <p:txBody>
          <a:bodyPr wrap="square" anchor="t"/>
          <a:lstStyle/>
          <a:p>
            <a:pPr algn="l"/>
            <a:r>
              <a:rPr lang="vi-VN" sz="1300">
                <a:solidFill>
                  <a:srgbClr val="475569"/>
                </a:solidFill>
                <a:latin typeface="Aptos"/>
              </a:rPr>
              <a:t>Tính hash dữ liệu quan trọng</a:t>
            </a:r>
            <a:endParaRPr lang="vi-VN" sz="1300"/>
          </a:p>
        </p:txBody>
      </p:sp>
      <p:sp>
        <p:nvSpPr>
          <p:cNvPr id="61" name="Shape 61"/>
          <p:cNvSpPr/>
          <p:nvPr/>
        </p:nvSpPr>
        <p:spPr>
          <a:xfrm>
            <a:off x="5916168" y="2331720"/>
            <a:ext cx="411480" cy="54864"/>
          </a:xfrm>
          <a:prstGeom prst="rect">
            <a:avLst/>
          </a:prstGeom>
          <a:solidFill>
            <a:srgbClr val="CBD5E1"/>
          </a:solidFill>
          <a:ln w="9525">
            <a:solidFill>
              <a:srgbClr val="CBD5E1"/>
            </a:solidFill>
          </a:ln>
        </p:spPr>
        <p:txBody>
          <a:bodyPr/>
          <a:lstStyle/>
          <a:p/>
        </p:txBody>
      </p:sp>
      <p:sp>
        <p:nvSpPr>
          <p:cNvPr id="28" name="Shape 28"/>
          <p:cNvSpPr/>
          <p:nvPr/>
        </p:nvSpPr>
        <p:spPr>
          <a:xfrm>
            <a:off x="6400800" y="1737360"/>
            <a:ext cx="2240280" cy="1234440"/>
          </a:xfrm>
          <a:prstGeom prst="roundRect">
            <a:avLst/>
          </a:prstGeom>
          <a:solidFill>
            <a:srgbClr val="FFFFFF"/>
          </a:solidFill>
          <a:ln w="9525">
            <a:solidFill>
              <a:srgbClr val="E2E8F0"/>
            </a:solidFill>
          </a:ln>
        </p:spPr>
        <p:txBody>
          <a:bodyPr/>
          <a:lstStyle/>
          <a:p/>
        </p:txBody>
      </p:sp>
      <p:sp>
        <p:nvSpPr>
          <p:cNvPr id="29" name="Shape 29"/>
          <p:cNvSpPr/>
          <p:nvPr/>
        </p:nvSpPr>
        <p:spPr>
          <a:xfrm>
            <a:off x="6400800" y="1737360"/>
            <a:ext cx="73152" cy="1234440"/>
          </a:xfrm>
          <a:prstGeom prst="rect">
            <a:avLst/>
          </a:prstGeom>
          <a:solidFill>
            <a:srgbClr val="16A34A"/>
          </a:solidFill>
          <a:ln w="9525">
            <a:solidFill>
              <a:srgbClr val="16A34A"/>
            </a:solidFill>
          </a:ln>
        </p:spPr>
        <p:txBody>
          <a:bodyPr/>
          <a:lstStyle/>
          <a:p/>
        </p:txBody>
      </p:sp>
      <p:sp>
        <p:nvSpPr>
          <p:cNvPr id="30" name="TextBox 30"/>
          <p:cNvSpPr txBox="1"/>
          <p:nvPr/>
        </p:nvSpPr>
        <p:spPr>
          <a:xfrm>
            <a:off x="6629400" y="1901952"/>
            <a:ext cx="1828800" cy="320040"/>
          </a:xfrm>
          <a:prstGeom prst="rect">
            <a:avLst/>
          </a:prstGeom>
          <a:noFill/>
          <a:ln>
            <a:noFill/>
          </a:ln>
        </p:spPr>
        <p:txBody>
          <a:bodyPr wrap="square" anchor="t"/>
          <a:lstStyle/>
          <a:p>
            <a:pPr algn="l"/>
            <a:r>
              <a:rPr lang="vi-VN" sz="1600" b="1">
                <a:solidFill>
                  <a:srgbClr val="0F172A"/>
                </a:solidFill>
                <a:latin typeface="Aptos"/>
              </a:rPr>
              <a:t>Blockchain</a:t>
            </a:r>
            <a:endParaRPr lang="vi-VN" sz="1600"/>
          </a:p>
        </p:txBody>
      </p:sp>
      <p:sp>
        <p:nvSpPr>
          <p:cNvPr id="31" name="TextBox 31"/>
          <p:cNvSpPr txBox="1"/>
          <p:nvPr/>
        </p:nvSpPr>
        <p:spPr>
          <a:xfrm>
            <a:off x="6629400" y="2304288"/>
            <a:ext cx="1828800" cy="594360"/>
          </a:xfrm>
          <a:prstGeom prst="rect">
            <a:avLst/>
          </a:prstGeom>
          <a:noFill/>
          <a:ln>
            <a:noFill/>
          </a:ln>
        </p:spPr>
        <p:txBody>
          <a:bodyPr wrap="square" anchor="t"/>
          <a:lstStyle/>
          <a:p>
            <a:pPr algn="l"/>
            <a:r>
              <a:rPr lang="vi-VN" sz="1300">
                <a:solidFill>
                  <a:srgbClr val="475569"/>
                </a:solidFill>
                <a:latin typeface="Aptos"/>
              </a:rPr>
              <a:t>Lưu hash và event audit</a:t>
            </a:r>
            <a:endParaRPr lang="vi-VN" sz="1300"/>
          </a:p>
        </p:txBody>
      </p:sp>
      <p:sp>
        <p:nvSpPr>
          <p:cNvPr id="62" name="Shape 62"/>
          <p:cNvSpPr/>
          <p:nvPr/>
        </p:nvSpPr>
        <p:spPr>
          <a:xfrm>
            <a:off x="8705088" y="2331720"/>
            <a:ext cx="411480" cy="54864"/>
          </a:xfrm>
          <a:prstGeom prst="rect">
            <a:avLst/>
          </a:prstGeom>
          <a:solidFill>
            <a:srgbClr val="CBD5E1"/>
          </a:solidFill>
          <a:ln w="9525">
            <a:solidFill>
              <a:srgbClr val="CBD5E1"/>
            </a:solidFill>
          </a:ln>
        </p:spPr>
        <p:txBody>
          <a:bodyPr/>
          <a:lstStyle/>
          <a:p/>
        </p:txBody>
      </p:sp>
      <p:sp>
        <p:nvSpPr>
          <p:cNvPr id="32" name="Shape 32"/>
          <p:cNvSpPr/>
          <p:nvPr/>
        </p:nvSpPr>
        <p:spPr>
          <a:xfrm>
            <a:off x="9189719" y="1737360"/>
            <a:ext cx="2240280" cy="1234440"/>
          </a:xfrm>
          <a:prstGeom prst="roundRect">
            <a:avLst/>
          </a:prstGeom>
          <a:solidFill>
            <a:srgbClr val="FFFFFF"/>
          </a:solidFill>
          <a:ln w="9525">
            <a:solidFill>
              <a:srgbClr val="E2E8F0"/>
            </a:solidFill>
          </a:ln>
        </p:spPr>
        <p:txBody>
          <a:bodyPr/>
          <a:lstStyle/>
          <a:p/>
        </p:txBody>
      </p:sp>
      <p:sp>
        <p:nvSpPr>
          <p:cNvPr id="33" name="Shape 33"/>
          <p:cNvSpPr/>
          <p:nvPr/>
        </p:nvSpPr>
        <p:spPr>
          <a:xfrm>
            <a:off x="9189719" y="1737360"/>
            <a:ext cx="73152" cy="1234440"/>
          </a:xfrm>
          <a:prstGeom prst="rect">
            <a:avLst/>
          </a:prstGeom>
          <a:solidFill>
            <a:srgbClr val="2563EB"/>
          </a:solidFill>
          <a:ln w="9525">
            <a:solidFill>
              <a:srgbClr val="2563EB"/>
            </a:solidFill>
          </a:ln>
        </p:spPr>
        <p:txBody>
          <a:bodyPr/>
          <a:lstStyle/>
          <a:p/>
        </p:txBody>
      </p:sp>
      <p:sp>
        <p:nvSpPr>
          <p:cNvPr id="34" name="TextBox 34"/>
          <p:cNvSpPr txBox="1"/>
          <p:nvPr/>
        </p:nvSpPr>
        <p:spPr>
          <a:xfrm>
            <a:off x="9418319" y="1901952"/>
            <a:ext cx="1828800" cy="320040"/>
          </a:xfrm>
          <a:prstGeom prst="rect">
            <a:avLst/>
          </a:prstGeom>
          <a:noFill/>
          <a:ln>
            <a:noFill/>
          </a:ln>
        </p:spPr>
        <p:txBody>
          <a:bodyPr wrap="square" anchor="t"/>
          <a:lstStyle/>
          <a:p>
            <a:pPr algn="l"/>
            <a:r>
              <a:rPr lang="vi-VN" sz="1600" b="1">
                <a:solidFill>
                  <a:srgbClr val="0F172A"/>
                </a:solidFill>
                <a:latin typeface="Aptos"/>
              </a:rPr>
              <a:t>Verify</a:t>
            </a:r>
            <a:endParaRPr lang="vi-VN" sz="1600"/>
          </a:p>
        </p:txBody>
      </p:sp>
      <p:sp>
        <p:nvSpPr>
          <p:cNvPr id="35" name="TextBox 35"/>
          <p:cNvSpPr txBox="1"/>
          <p:nvPr/>
        </p:nvSpPr>
        <p:spPr>
          <a:xfrm>
            <a:off x="9418319" y="2304288"/>
            <a:ext cx="1828800" cy="594360"/>
          </a:xfrm>
          <a:prstGeom prst="rect">
            <a:avLst/>
          </a:prstGeom>
          <a:noFill/>
          <a:ln>
            <a:noFill/>
          </a:ln>
        </p:spPr>
        <p:txBody>
          <a:bodyPr wrap="square" anchor="t"/>
          <a:lstStyle/>
          <a:p>
            <a:pPr algn="l"/>
            <a:r>
              <a:rPr lang="vi-VN" sz="1300">
                <a:solidFill>
                  <a:srgbClr val="475569"/>
                </a:solidFill>
                <a:latin typeface="Aptos"/>
              </a:rPr>
              <a:t>Tính lại hash và so sánh</a:t>
            </a:r>
            <a:endParaRPr lang="vi-VN" sz="1300"/>
          </a:p>
        </p:txBody>
      </p:sp>
      <p:sp>
        <p:nvSpPr>
          <p:cNvPr id="75" name="Shape 75"/>
          <p:cNvSpPr/>
          <p:nvPr/>
        </p:nvSpPr>
        <p:spPr>
          <a:xfrm>
            <a:off x="960120" y="3886200"/>
            <a:ext cx="4937760" cy="1143000"/>
          </a:xfrm>
          <a:prstGeom prst="roundRect">
            <a:avLst/>
          </a:prstGeom>
          <a:solidFill>
            <a:srgbClr val="DCFCE7"/>
          </a:solidFill>
          <a:ln w="9525">
            <a:solidFill>
              <a:srgbClr val="E2E8F0"/>
            </a:solidFill>
          </a:ln>
        </p:spPr>
        <p:txBody>
          <a:bodyPr/>
          <a:lstStyle/>
          <a:p/>
        </p:txBody>
      </p:sp>
      <p:sp>
        <p:nvSpPr>
          <p:cNvPr id="76" name="Shape 76"/>
          <p:cNvSpPr/>
          <p:nvPr/>
        </p:nvSpPr>
        <p:spPr>
          <a:xfrm>
            <a:off x="960120" y="3886200"/>
            <a:ext cx="73152" cy="1143000"/>
          </a:xfrm>
          <a:prstGeom prst="rect">
            <a:avLst/>
          </a:prstGeom>
          <a:solidFill>
            <a:srgbClr val="16A34A"/>
          </a:solidFill>
          <a:ln w="9525">
            <a:solidFill>
              <a:srgbClr val="16A34A"/>
            </a:solidFill>
          </a:ln>
        </p:spPr>
        <p:txBody>
          <a:bodyPr/>
          <a:lstStyle/>
          <a:p/>
        </p:txBody>
      </p:sp>
      <p:sp>
        <p:nvSpPr>
          <p:cNvPr id="77" name="TextBox 77"/>
          <p:cNvSpPr txBox="1"/>
          <p:nvPr/>
        </p:nvSpPr>
        <p:spPr>
          <a:xfrm>
            <a:off x="1188720" y="4050791"/>
            <a:ext cx="4526280" cy="320040"/>
          </a:xfrm>
          <a:prstGeom prst="rect">
            <a:avLst/>
          </a:prstGeom>
          <a:noFill/>
          <a:ln>
            <a:noFill/>
          </a:ln>
        </p:spPr>
        <p:txBody>
          <a:bodyPr wrap="square" anchor="t"/>
          <a:lstStyle/>
          <a:p>
            <a:pPr algn="l"/>
            <a:r>
              <a:rPr lang="vi-VN" sz="1600" b="1">
                <a:solidFill>
                  <a:srgbClr val="0F172A"/>
                </a:solidFill>
                <a:latin typeface="Aptos"/>
              </a:rPr>
              <a:t>Dữ liệu hợp lệ</a:t>
            </a:r>
            <a:endParaRPr lang="vi-VN" sz="1600"/>
          </a:p>
        </p:txBody>
      </p:sp>
      <p:sp>
        <p:nvSpPr>
          <p:cNvPr id="78" name="TextBox 78"/>
          <p:cNvSpPr txBox="1"/>
          <p:nvPr/>
        </p:nvSpPr>
        <p:spPr>
          <a:xfrm>
            <a:off x="1188720" y="4453128"/>
            <a:ext cx="4526280" cy="502920"/>
          </a:xfrm>
          <a:prstGeom prst="rect">
            <a:avLst/>
          </a:prstGeom>
          <a:noFill/>
          <a:ln>
            <a:noFill/>
          </a:ln>
        </p:spPr>
        <p:txBody>
          <a:bodyPr wrap="square" anchor="t"/>
          <a:lstStyle/>
          <a:p>
            <a:pPr algn="l"/>
            <a:r>
              <a:rPr lang="vi-VN" sz="1300">
                <a:solidFill>
                  <a:srgbClr val="475569"/>
                </a:solidFill>
                <a:latin typeface="Aptos"/>
              </a:rPr>
              <a:t>Hash tính lại từ DB khớp với hash đã neo trên blockchain.</a:t>
            </a:r>
            <a:endParaRPr lang="vi-VN" sz="1300"/>
          </a:p>
        </p:txBody>
      </p:sp>
      <p:sp>
        <p:nvSpPr>
          <p:cNvPr id="79" name="Shape 79"/>
          <p:cNvSpPr/>
          <p:nvPr/>
        </p:nvSpPr>
        <p:spPr>
          <a:xfrm>
            <a:off x="6263640" y="3886200"/>
            <a:ext cx="4937760" cy="1143000"/>
          </a:xfrm>
          <a:prstGeom prst="roundRect">
            <a:avLst/>
          </a:prstGeom>
          <a:solidFill>
            <a:srgbClr val="FEE2E2"/>
          </a:solidFill>
          <a:ln w="9525">
            <a:solidFill>
              <a:srgbClr val="E2E8F0"/>
            </a:solidFill>
          </a:ln>
        </p:spPr>
        <p:txBody>
          <a:bodyPr/>
          <a:lstStyle/>
          <a:p/>
        </p:txBody>
      </p:sp>
      <p:sp>
        <p:nvSpPr>
          <p:cNvPr id="80" name="Shape 80"/>
          <p:cNvSpPr/>
          <p:nvPr/>
        </p:nvSpPr>
        <p:spPr>
          <a:xfrm>
            <a:off x="6263640" y="3886200"/>
            <a:ext cx="73152" cy="1143000"/>
          </a:xfrm>
          <a:prstGeom prst="rect">
            <a:avLst/>
          </a:prstGeom>
          <a:solidFill>
            <a:srgbClr val="DC2626"/>
          </a:solidFill>
          <a:ln w="9525">
            <a:solidFill>
              <a:srgbClr val="DC2626"/>
            </a:solidFill>
          </a:ln>
        </p:spPr>
        <p:txBody>
          <a:bodyPr/>
          <a:lstStyle/>
          <a:p/>
        </p:txBody>
      </p:sp>
      <p:sp>
        <p:nvSpPr>
          <p:cNvPr id="81" name="TextBox 81"/>
          <p:cNvSpPr txBox="1"/>
          <p:nvPr/>
        </p:nvSpPr>
        <p:spPr>
          <a:xfrm>
            <a:off x="6492240" y="4050791"/>
            <a:ext cx="4526280" cy="320040"/>
          </a:xfrm>
          <a:prstGeom prst="rect">
            <a:avLst/>
          </a:prstGeom>
          <a:noFill/>
          <a:ln>
            <a:noFill/>
          </a:ln>
        </p:spPr>
        <p:txBody>
          <a:bodyPr wrap="square" anchor="t"/>
          <a:lstStyle/>
          <a:p>
            <a:pPr algn="l"/>
            <a:r>
              <a:rPr lang="vi-VN" sz="1600" b="1">
                <a:solidFill>
                  <a:srgbClr val="0F172A"/>
                </a:solidFill>
                <a:latin typeface="Aptos"/>
              </a:rPr>
              <a:t>Dữ liệu bị sửa</a:t>
            </a:r>
            <a:endParaRPr lang="vi-VN" sz="1600"/>
          </a:p>
        </p:txBody>
      </p:sp>
      <p:sp>
        <p:nvSpPr>
          <p:cNvPr id="82" name="TextBox 82"/>
          <p:cNvSpPr txBox="1"/>
          <p:nvPr/>
        </p:nvSpPr>
        <p:spPr>
          <a:xfrm>
            <a:off x="6492240" y="4453128"/>
            <a:ext cx="4526280" cy="502920"/>
          </a:xfrm>
          <a:prstGeom prst="rect">
            <a:avLst/>
          </a:prstGeom>
          <a:noFill/>
          <a:ln>
            <a:noFill/>
          </a:ln>
        </p:spPr>
        <p:txBody>
          <a:bodyPr wrap="square" anchor="t"/>
          <a:lstStyle/>
          <a:p>
            <a:pPr algn="l"/>
            <a:r>
              <a:rPr lang="vi-VN" sz="1300">
                <a:solidFill>
                  <a:srgbClr val="475569"/>
                </a:solidFill>
                <a:latin typeface="Aptos"/>
              </a:rPr>
              <a:t>Hash không khớp, hệ thống có thể cảnh báo dữ liệu nguồn gốc không còn toàn vẹn.</a:t>
            </a:r>
            <a:endParaRPr lang="vi-VN" sz="13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502920" y="256032"/>
            <a:ext cx="9875520" cy="411480"/>
          </a:xfrm>
          <a:prstGeom prst="rect">
            <a:avLst/>
          </a:prstGeom>
          <a:noFill/>
          <a:ln>
            <a:noFill/>
          </a:ln>
        </p:spPr>
        <p:txBody>
          <a:bodyPr wrap="square" anchor="t"/>
          <a:lstStyle/>
          <a:p>
            <a:pPr algn="l"/>
            <a:r>
              <a:rPr lang="vi-VN" sz="2500" b="1">
                <a:solidFill>
                  <a:srgbClr val="0F172A"/>
                </a:solidFill>
                <a:latin typeface="Aptos"/>
              </a:rPr>
              <a:t>Chống giả và đánh giá sản phẩm</a:t>
            </a:r>
            <a:endParaRPr lang="vi-VN" sz="2500"/>
          </a:p>
        </p:txBody>
      </p:sp>
      <p:sp>
        <p:nvSpPr>
          <p:cNvPr id="3" name="TextBox 3"/>
          <p:cNvSpPr txBox="1"/>
          <p:nvPr/>
        </p:nvSpPr>
        <p:spPr>
          <a:xfrm>
            <a:off x="521207" y="713232"/>
            <a:ext cx="9601200" cy="292608"/>
          </a:xfrm>
          <a:prstGeom prst="rect">
            <a:avLst/>
          </a:prstGeom>
          <a:noFill/>
          <a:ln>
            <a:noFill/>
          </a:ln>
        </p:spPr>
        <p:txBody>
          <a:bodyPr wrap="square" anchor="t"/>
          <a:lstStyle/>
          <a:p>
            <a:pPr algn="l"/>
            <a:r>
              <a:rPr lang="vi-VN" sz="1200">
                <a:solidFill>
                  <a:srgbClr val="475569"/>
                </a:solidFill>
                <a:latin typeface="Aptos"/>
              </a:rPr>
              <a:t>Hai chức năng gần với người dùng cuối nhất</a:t>
            </a:r>
            <a:endParaRPr lang="vi-VN" sz="1200"/>
          </a:p>
        </p:txBody>
      </p:sp>
      <p:sp>
        <p:nvSpPr>
          <p:cNvPr id="4" name="Shape 4"/>
          <p:cNvSpPr/>
          <p:nvPr/>
        </p:nvSpPr>
        <p:spPr>
          <a:xfrm>
            <a:off x="502920" y="1024128"/>
            <a:ext cx="1051560" cy="45720"/>
          </a:xfrm>
          <a:prstGeom prst="rect">
            <a:avLst/>
          </a:prstGeom>
          <a:solidFill>
            <a:srgbClr val="2563EB"/>
          </a:solidFill>
          <a:ln w="9525">
            <a:solidFill>
              <a:srgbClr val="2563EB"/>
            </a:solidFill>
          </a:ln>
        </p:spPr>
        <p:txBody>
          <a:bodyPr/>
          <a:lstStyle/>
          <a:p/>
        </p:txBody>
      </p:sp>
      <p:sp>
        <p:nvSpPr>
          <p:cNvPr id="20" name="Shape 20"/>
          <p:cNvSpPr/>
          <p:nvPr/>
        </p:nvSpPr>
        <p:spPr>
          <a:xfrm>
            <a:off x="777240" y="1508760"/>
            <a:ext cx="5212080" cy="1965960"/>
          </a:xfrm>
          <a:prstGeom prst="roundRect">
            <a:avLst/>
          </a:prstGeom>
          <a:solidFill>
            <a:srgbClr val="FFEDD5"/>
          </a:solidFill>
          <a:ln w="9525">
            <a:solidFill>
              <a:srgbClr val="E2E8F0"/>
            </a:solidFill>
          </a:ln>
        </p:spPr>
        <p:txBody>
          <a:bodyPr/>
          <a:lstStyle/>
          <a:p/>
        </p:txBody>
      </p:sp>
      <p:sp>
        <p:nvSpPr>
          <p:cNvPr id="21" name="Shape 21"/>
          <p:cNvSpPr/>
          <p:nvPr/>
        </p:nvSpPr>
        <p:spPr>
          <a:xfrm>
            <a:off x="777240" y="1508760"/>
            <a:ext cx="73152" cy="1965960"/>
          </a:xfrm>
          <a:prstGeom prst="rect">
            <a:avLst/>
          </a:prstGeom>
          <a:solidFill>
            <a:srgbClr val="F97316"/>
          </a:solidFill>
          <a:ln w="9525">
            <a:solidFill>
              <a:srgbClr val="F97316"/>
            </a:solidFill>
          </a:ln>
        </p:spPr>
        <p:txBody>
          <a:bodyPr/>
          <a:lstStyle/>
          <a:p/>
        </p:txBody>
      </p:sp>
      <p:sp>
        <p:nvSpPr>
          <p:cNvPr id="22" name="TextBox 22"/>
          <p:cNvSpPr txBox="1"/>
          <p:nvPr/>
        </p:nvSpPr>
        <p:spPr>
          <a:xfrm>
            <a:off x="1005840" y="1673351"/>
            <a:ext cx="4800600" cy="320040"/>
          </a:xfrm>
          <a:prstGeom prst="rect">
            <a:avLst/>
          </a:prstGeom>
          <a:noFill/>
          <a:ln>
            <a:noFill/>
          </a:ln>
        </p:spPr>
        <p:txBody>
          <a:bodyPr wrap="square" anchor="t"/>
          <a:lstStyle/>
          <a:p>
            <a:pPr algn="l"/>
            <a:r>
              <a:rPr lang="vi-VN" sz="1600" b="1">
                <a:solidFill>
                  <a:srgbClr val="0F172A"/>
                </a:solidFill>
                <a:latin typeface="Aptos"/>
              </a:rPr>
              <a:t>Chống giả bằng serial tờ tiền</a:t>
            </a:r>
            <a:endParaRPr lang="vi-VN" sz="1600"/>
          </a:p>
        </p:txBody>
      </p:sp>
      <p:sp>
        <p:nvSpPr>
          <p:cNvPr id="23" name="TextBox 23"/>
          <p:cNvSpPr txBox="1"/>
          <p:nvPr/>
        </p:nvSpPr>
        <p:spPr>
          <a:xfrm>
            <a:off x="1005840" y="2075688"/>
            <a:ext cx="4800600" cy="1325880"/>
          </a:xfrm>
          <a:prstGeom prst="rect">
            <a:avLst/>
          </a:prstGeom>
          <a:noFill/>
          <a:ln>
            <a:noFill/>
          </a:ln>
        </p:spPr>
        <p:txBody>
          <a:bodyPr wrap="square" anchor="t"/>
          <a:lstStyle/>
          <a:p>
            <a:pPr algn="l"/>
            <a:r>
              <a:rPr lang="vi-VN" sz="1300">
                <a:solidFill>
                  <a:srgbClr val="475569"/>
                </a:solidFill>
                <a:latin typeface="Aptos"/>
              </a:rPr>
              <a:t>Mỗi sản phẩm được gắn với một serial tờ tiền đã đăng ký; serial chỉ được dùng một lần.</a:t>
            </a:r>
            <a:endParaRPr lang="vi-VN" sz="1300"/>
          </a:p>
          <a:p>
            <a:pPr algn="l"/>
            <a:r>
              <a:rPr lang="vi-VN" sz="1300">
                <a:solidFill>
                  <a:srgbClr val="475569"/>
                </a:solidFill>
                <a:latin typeface="Aptos"/>
              </a:rPr>
              <a:t>Nếu serial bị dùng lại hoặc không khớp sản phẩm, hệ thống phát hiện dấu hiệu bất thường.</a:t>
            </a:r>
            <a:endParaRPr lang="vi-VN" sz="1300"/>
          </a:p>
        </p:txBody>
      </p:sp>
      <p:sp>
        <p:nvSpPr>
          <p:cNvPr id="24" name="Shape 24"/>
          <p:cNvSpPr/>
          <p:nvPr/>
        </p:nvSpPr>
        <p:spPr>
          <a:xfrm>
            <a:off x="6263640" y="1508760"/>
            <a:ext cx="5212080" cy="1965960"/>
          </a:xfrm>
          <a:prstGeom prst="roundRect">
            <a:avLst/>
          </a:prstGeom>
          <a:solidFill>
            <a:srgbClr val="DCFCE7"/>
          </a:solidFill>
          <a:ln w="9525">
            <a:solidFill>
              <a:srgbClr val="E2E8F0"/>
            </a:solidFill>
          </a:ln>
        </p:spPr>
        <p:txBody>
          <a:bodyPr/>
          <a:lstStyle/>
          <a:p/>
        </p:txBody>
      </p:sp>
      <p:sp>
        <p:nvSpPr>
          <p:cNvPr id="25" name="Shape 25"/>
          <p:cNvSpPr/>
          <p:nvPr/>
        </p:nvSpPr>
        <p:spPr>
          <a:xfrm>
            <a:off x="6263640" y="1508760"/>
            <a:ext cx="73152" cy="1965960"/>
          </a:xfrm>
          <a:prstGeom prst="rect">
            <a:avLst/>
          </a:prstGeom>
          <a:solidFill>
            <a:srgbClr val="16A34A"/>
          </a:solidFill>
          <a:ln w="9525">
            <a:solidFill>
              <a:srgbClr val="16A34A"/>
            </a:solidFill>
          </a:ln>
        </p:spPr>
        <p:txBody>
          <a:bodyPr/>
          <a:lstStyle/>
          <a:p/>
        </p:txBody>
      </p:sp>
      <p:sp>
        <p:nvSpPr>
          <p:cNvPr id="26" name="TextBox 26"/>
          <p:cNvSpPr txBox="1"/>
          <p:nvPr/>
        </p:nvSpPr>
        <p:spPr>
          <a:xfrm>
            <a:off x="6492240" y="1673351"/>
            <a:ext cx="4800600" cy="320040"/>
          </a:xfrm>
          <a:prstGeom prst="rect">
            <a:avLst/>
          </a:prstGeom>
          <a:noFill/>
          <a:ln>
            <a:noFill/>
          </a:ln>
        </p:spPr>
        <p:txBody>
          <a:bodyPr wrap="square" anchor="t"/>
          <a:lstStyle/>
          <a:p>
            <a:pPr algn="l"/>
            <a:r>
              <a:rPr lang="vi-VN" sz="1600" b="1">
                <a:solidFill>
                  <a:srgbClr val="0F172A"/>
                </a:solidFill>
                <a:latin typeface="Aptos"/>
              </a:rPr>
              <a:t>Đánh giá sản phẩm</a:t>
            </a:r>
            <a:endParaRPr lang="vi-VN" sz="1600"/>
          </a:p>
        </p:txBody>
      </p:sp>
      <p:sp>
        <p:nvSpPr>
          <p:cNvPr id="27" name="TextBox 27"/>
          <p:cNvSpPr txBox="1"/>
          <p:nvPr/>
        </p:nvSpPr>
        <p:spPr>
          <a:xfrm>
            <a:off x="6492240" y="2075688"/>
            <a:ext cx="4800600" cy="1325880"/>
          </a:xfrm>
          <a:prstGeom prst="rect">
            <a:avLst/>
          </a:prstGeom>
          <a:noFill/>
          <a:ln>
            <a:noFill/>
          </a:ln>
        </p:spPr>
        <p:txBody>
          <a:bodyPr wrap="square" anchor="t"/>
          <a:lstStyle/>
          <a:p>
            <a:pPr algn="l"/>
            <a:r>
              <a:rPr lang="vi-VN" sz="1300">
                <a:solidFill>
                  <a:srgbClr val="475569"/>
                </a:solidFill>
                <a:latin typeface="Aptos"/>
              </a:rPr>
              <a:t>Người dùng đã mua có thể gửi đánh giá và hình ảnh.</a:t>
            </a:r>
            <a:endParaRPr lang="vi-VN" sz="1300"/>
          </a:p>
          <a:p>
            <a:pPr algn="l"/>
            <a:r>
              <a:rPr lang="vi-VN" sz="1300">
                <a:solidFill>
                  <a:srgbClr val="475569"/>
                </a:solidFill>
                <a:latin typeface="Aptos"/>
              </a:rPr>
              <a:t>Người mua sau có thêm nguồn tham khảo thực tế trước khi quyết định mua.</a:t>
            </a:r>
            <a:endParaRPr lang="vi-VN" sz="1300"/>
          </a:p>
        </p:txBody>
      </p:sp>
      <p:sp>
        <p:nvSpPr>
          <p:cNvPr id="28" name="Shape 28"/>
          <p:cNvSpPr/>
          <p:nvPr/>
        </p:nvSpPr>
        <p:spPr>
          <a:xfrm>
            <a:off x="1051560" y="4160520"/>
            <a:ext cx="10012680" cy="1051560"/>
          </a:xfrm>
          <a:prstGeom prst="roundRect">
            <a:avLst/>
          </a:prstGeom>
          <a:solidFill>
            <a:srgbClr val="FFFFFF"/>
          </a:solidFill>
          <a:ln w="9525">
            <a:solidFill>
              <a:srgbClr val="E2E8F0"/>
            </a:solidFill>
          </a:ln>
        </p:spPr>
        <p:txBody>
          <a:bodyPr/>
          <a:lstStyle/>
          <a:p/>
        </p:txBody>
      </p:sp>
      <p:sp>
        <p:nvSpPr>
          <p:cNvPr id="29" name="Shape 29"/>
          <p:cNvSpPr/>
          <p:nvPr/>
        </p:nvSpPr>
        <p:spPr>
          <a:xfrm>
            <a:off x="1051560" y="4160520"/>
            <a:ext cx="73152" cy="1051560"/>
          </a:xfrm>
          <a:prstGeom prst="rect">
            <a:avLst/>
          </a:prstGeom>
          <a:solidFill>
            <a:srgbClr val="2563EB"/>
          </a:solidFill>
          <a:ln w="9525">
            <a:solidFill>
              <a:srgbClr val="2563EB"/>
            </a:solidFill>
          </a:ln>
        </p:spPr>
        <p:txBody>
          <a:bodyPr/>
          <a:lstStyle/>
          <a:p/>
        </p:txBody>
      </p:sp>
      <p:sp>
        <p:nvSpPr>
          <p:cNvPr id="30" name="TextBox 30"/>
          <p:cNvSpPr txBox="1"/>
          <p:nvPr/>
        </p:nvSpPr>
        <p:spPr>
          <a:xfrm>
            <a:off x="1280160" y="4325112"/>
            <a:ext cx="9601200" cy="320040"/>
          </a:xfrm>
          <a:prstGeom prst="rect">
            <a:avLst/>
          </a:prstGeom>
          <a:noFill/>
          <a:ln>
            <a:noFill/>
          </a:ln>
        </p:spPr>
        <p:txBody>
          <a:bodyPr wrap="square" anchor="t"/>
          <a:lstStyle/>
          <a:p>
            <a:pPr algn="l"/>
            <a:r>
              <a:rPr lang="vi-VN" sz="1600" b="1">
                <a:solidFill>
                  <a:srgbClr val="0F172A"/>
                </a:solidFill>
                <a:latin typeface="Aptos"/>
              </a:rPr>
              <a:t>Giá trị thực tiễn</a:t>
            </a:r>
            <a:endParaRPr lang="vi-VN" sz="1600"/>
          </a:p>
        </p:txBody>
      </p:sp>
      <p:sp>
        <p:nvSpPr>
          <p:cNvPr id="31" name="TextBox 31"/>
          <p:cNvSpPr txBox="1"/>
          <p:nvPr/>
        </p:nvSpPr>
        <p:spPr>
          <a:xfrm>
            <a:off x="1280160" y="4727448"/>
            <a:ext cx="9601200" cy="411479"/>
          </a:xfrm>
          <a:prstGeom prst="rect">
            <a:avLst/>
          </a:prstGeom>
          <a:noFill/>
          <a:ln>
            <a:noFill/>
          </a:ln>
        </p:spPr>
        <p:txBody>
          <a:bodyPr wrap="square" anchor="t"/>
          <a:lstStyle/>
          <a:p>
            <a:pPr algn="l"/>
            <a:r>
              <a:rPr lang="vi-VN" sz="1300">
                <a:solidFill>
                  <a:srgbClr val="475569"/>
                </a:solidFill>
                <a:latin typeface="Aptos"/>
              </a:rPr>
              <a:t>Khi đứng trước một sản phẩm tại siêu thị, người dùng không chỉ thấy thông tin trên bao bì mà còn xem được nguồn gốc, lịch sử, đánh giá và dấu hiệu xác thực.</a:t>
            </a:r>
            <a:endParaRPr lang="vi-VN" sz="13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502920" y="256032"/>
            <a:ext cx="9875520" cy="411480"/>
          </a:xfrm>
          <a:prstGeom prst="rect">
            <a:avLst/>
          </a:prstGeom>
          <a:noFill/>
          <a:ln>
            <a:noFill/>
          </a:ln>
        </p:spPr>
        <p:txBody>
          <a:bodyPr wrap="square" anchor="t"/>
          <a:lstStyle/>
          <a:p>
            <a:pPr algn="l"/>
            <a:r>
              <a:rPr lang="vi-VN" sz="2500" b="1">
                <a:solidFill>
                  <a:srgbClr val="0F172A"/>
                </a:solidFill>
                <a:latin typeface="Aptos"/>
              </a:rPr>
              <a:t>Kết quả đạt được</a:t>
            </a:r>
            <a:endParaRPr lang="vi-VN" sz="2500"/>
          </a:p>
        </p:txBody>
      </p:sp>
      <p:sp>
        <p:nvSpPr>
          <p:cNvPr id="3" name="TextBox 3"/>
          <p:cNvSpPr txBox="1"/>
          <p:nvPr/>
        </p:nvSpPr>
        <p:spPr>
          <a:xfrm>
            <a:off x="521207" y="713232"/>
            <a:ext cx="9601200" cy="292608"/>
          </a:xfrm>
          <a:prstGeom prst="rect">
            <a:avLst/>
          </a:prstGeom>
          <a:noFill/>
          <a:ln>
            <a:noFill/>
          </a:ln>
        </p:spPr>
        <p:txBody>
          <a:bodyPr wrap="square" anchor="t"/>
          <a:lstStyle/>
          <a:p>
            <a:pPr algn="l"/>
            <a:r>
              <a:rPr lang="vi-VN" sz="1200">
                <a:solidFill>
                  <a:srgbClr val="475569"/>
                </a:solidFill>
                <a:latin typeface="Aptos"/>
              </a:rPr>
              <a:t>Một số màn hình và chức năng chính đã triển khai</a:t>
            </a:r>
            <a:endParaRPr lang="vi-VN" sz="1200"/>
          </a:p>
        </p:txBody>
      </p:sp>
      <p:sp>
        <p:nvSpPr>
          <p:cNvPr id="4" name="Shape 4"/>
          <p:cNvSpPr/>
          <p:nvPr/>
        </p:nvSpPr>
        <p:spPr>
          <a:xfrm>
            <a:off x="502920" y="1024128"/>
            <a:ext cx="1051560" cy="45720"/>
          </a:xfrm>
          <a:prstGeom prst="rect">
            <a:avLst/>
          </a:prstGeom>
          <a:solidFill>
            <a:srgbClr val="2563EB"/>
          </a:solidFill>
          <a:ln w="9525">
            <a:solidFill>
              <a:srgbClr val="2563EB"/>
            </a:solidFill>
          </a:ln>
        </p:spPr>
        <p:txBody>
          <a:bodyPr/>
          <a:lstStyle/>
          <a:p/>
        </p:txBody>
      </p:sp>
      <p:pic>
        <p:nvPicPr>
          <p:cNvPr id="21" name="image41.png"/>
          <p:cNvPicPr/>
          <p:nvPr/>
        </p:nvPicPr>
        <p:blipFill>
          <a:blip r:embed="rId1"/>
          <a:stretch>
            <a:fillRect/>
          </a:stretch>
        </p:blipFill>
        <p:spPr>
          <a:xfrm>
            <a:off x="640080" y="1325880"/>
            <a:ext cx="3566160" cy="1234440"/>
          </a:xfrm>
          <a:prstGeom prst="rect">
            <a:avLst/>
          </a:prstGeom>
          <a:ln w="9525">
            <a:solidFill>
              <a:srgbClr val="E2E8F0"/>
            </a:solidFill>
          </a:ln>
        </p:spPr>
      </p:pic>
      <p:pic>
        <p:nvPicPr>
          <p:cNvPr id="22" name="image40.png"/>
          <p:cNvPicPr/>
          <p:nvPr/>
        </p:nvPicPr>
        <p:blipFill>
          <a:blip r:embed="rId2"/>
          <a:stretch>
            <a:fillRect/>
          </a:stretch>
        </p:blipFill>
        <p:spPr>
          <a:xfrm>
            <a:off x="4434840" y="1325880"/>
            <a:ext cx="3566160" cy="1691640"/>
          </a:xfrm>
          <a:prstGeom prst="rect">
            <a:avLst/>
          </a:prstGeom>
          <a:ln w="9525">
            <a:solidFill>
              <a:srgbClr val="E2E8F0"/>
            </a:solidFill>
          </a:ln>
        </p:spPr>
      </p:pic>
      <p:pic>
        <p:nvPicPr>
          <p:cNvPr id="23" name="image58.png"/>
          <p:cNvPicPr/>
          <p:nvPr/>
        </p:nvPicPr>
        <p:blipFill>
          <a:blip r:embed="rId3"/>
          <a:stretch>
            <a:fillRect/>
          </a:stretch>
        </p:blipFill>
        <p:spPr>
          <a:xfrm>
            <a:off x="8458200" y="1234440"/>
            <a:ext cx="1234440" cy="2743200"/>
          </a:xfrm>
          <a:prstGeom prst="rect">
            <a:avLst/>
          </a:prstGeom>
          <a:ln w="9525">
            <a:solidFill>
              <a:srgbClr val="E2E8F0"/>
            </a:solidFill>
          </a:ln>
        </p:spPr>
      </p:pic>
      <p:pic>
        <p:nvPicPr>
          <p:cNvPr id="24" name="image54.png"/>
          <p:cNvPicPr/>
          <p:nvPr/>
        </p:nvPicPr>
        <p:blipFill>
          <a:blip r:embed="rId4"/>
          <a:stretch>
            <a:fillRect/>
          </a:stretch>
        </p:blipFill>
        <p:spPr>
          <a:xfrm>
            <a:off x="9921240" y="1234440"/>
            <a:ext cx="1234440" cy="2743200"/>
          </a:xfrm>
          <a:prstGeom prst="rect">
            <a:avLst/>
          </a:prstGeom>
          <a:ln w="9525">
            <a:solidFill>
              <a:srgbClr val="E2E8F0"/>
            </a:solidFill>
          </a:ln>
        </p:spPr>
      </p:pic>
      <p:sp>
        <p:nvSpPr>
          <p:cNvPr id="35" name="TextBox 35"/>
          <p:cNvSpPr txBox="1"/>
          <p:nvPr/>
        </p:nvSpPr>
        <p:spPr>
          <a:xfrm>
            <a:off x="749808" y="4434840"/>
            <a:ext cx="10698480" cy="320040"/>
          </a:xfrm>
          <a:prstGeom prst="rect">
            <a:avLst/>
          </a:prstGeom>
          <a:noFill/>
          <a:ln>
            <a:noFill/>
          </a:ln>
        </p:spPr>
        <p:txBody>
          <a:bodyPr wrap="square" anchor="t"/>
          <a:lstStyle/>
          <a:p>
            <a:pPr algn="ctr"/>
            <a:r>
              <a:rPr lang="vi-VN" sz="1700" b="1">
                <a:solidFill>
                  <a:srgbClr val="0F172A"/>
                </a:solidFill>
                <a:latin typeface="Aptos"/>
              </a:rPr>
              <a:t>Đã xây dựng backend microservices, web nghiệp vụ, mobile quét truy xuất, tích hợp blockchain, Kafka và WebSocket.</a:t>
            </a:r>
            <a:endParaRPr lang="vi-VN" sz="1700"/>
          </a:p>
        </p:txBody>
      </p:sp>
      <p:sp>
        <p:nvSpPr>
          <p:cNvPr id="40" name="Shape 40"/>
          <p:cNvSpPr/>
          <p:nvPr/>
        </p:nvSpPr>
        <p:spPr>
          <a:xfrm>
            <a:off x="914400" y="5056632"/>
            <a:ext cx="100584" cy="100584"/>
          </a:xfrm>
          <a:prstGeom prst="ellipse">
            <a:avLst/>
          </a:prstGeom>
          <a:solidFill>
            <a:srgbClr val="16A34A"/>
          </a:solidFill>
          <a:ln w="9525">
            <a:solidFill>
              <a:srgbClr val="16A34A"/>
            </a:solidFill>
          </a:ln>
        </p:spPr>
        <p:txBody>
          <a:bodyPr/>
          <a:lstStyle/>
          <a:p/>
        </p:txBody>
      </p:sp>
      <p:sp>
        <p:nvSpPr>
          <p:cNvPr id="41" name="TextBox 41"/>
          <p:cNvSpPr txBox="1"/>
          <p:nvPr/>
        </p:nvSpPr>
        <p:spPr>
          <a:xfrm>
            <a:off x="1170432" y="4983480"/>
            <a:ext cx="9985248" cy="347472"/>
          </a:xfrm>
          <a:prstGeom prst="rect">
            <a:avLst/>
          </a:prstGeom>
          <a:noFill/>
          <a:ln>
            <a:noFill/>
          </a:ln>
        </p:spPr>
        <p:txBody>
          <a:bodyPr wrap="square" anchor="t"/>
          <a:lstStyle/>
          <a:p>
            <a:pPr algn="l"/>
            <a:r>
              <a:rPr lang="vi-VN" sz="1800">
                <a:solidFill>
                  <a:srgbClr val="475569"/>
                </a:solidFill>
                <a:latin typeface="Aptos"/>
              </a:rPr>
              <a:t>Web: admin, supplier, manufacturer, dashboard nghiệp vụ.</a:t>
            </a:r>
            <a:endParaRPr lang="vi-VN" sz="1800"/>
          </a:p>
        </p:txBody>
      </p:sp>
      <p:sp>
        <p:nvSpPr>
          <p:cNvPr id="42" name="Shape 42"/>
          <p:cNvSpPr/>
          <p:nvPr/>
        </p:nvSpPr>
        <p:spPr>
          <a:xfrm>
            <a:off x="914400" y="5495544"/>
            <a:ext cx="100584" cy="100584"/>
          </a:xfrm>
          <a:prstGeom prst="ellipse">
            <a:avLst/>
          </a:prstGeom>
          <a:solidFill>
            <a:srgbClr val="16A34A"/>
          </a:solidFill>
          <a:ln w="9525">
            <a:solidFill>
              <a:srgbClr val="16A34A"/>
            </a:solidFill>
          </a:ln>
        </p:spPr>
        <p:txBody>
          <a:bodyPr/>
          <a:lstStyle/>
          <a:p/>
        </p:txBody>
      </p:sp>
      <p:sp>
        <p:nvSpPr>
          <p:cNvPr id="43" name="TextBox 43"/>
          <p:cNvSpPr txBox="1"/>
          <p:nvPr/>
        </p:nvSpPr>
        <p:spPr>
          <a:xfrm>
            <a:off x="1170432" y="5422392"/>
            <a:ext cx="9985248" cy="347472"/>
          </a:xfrm>
          <a:prstGeom prst="rect">
            <a:avLst/>
          </a:prstGeom>
          <a:noFill/>
          <a:ln>
            <a:noFill/>
          </a:ln>
        </p:spPr>
        <p:txBody>
          <a:bodyPr wrap="square" anchor="t"/>
          <a:lstStyle/>
          <a:p>
            <a:pPr algn="l"/>
            <a:r>
              <a:rPr lang="vi-VN" sz="1800">
                <a:solidFill>
                  <a:srgbClr val="475569"/>
                </a:solidFill>
                <a:latin typeface="Aptos"/>
              </a:rPr>
              <a:t>Mobile: scan QR/serial, truy xuất timeline, retailer/transporter, đánh giá sản phẩm.</a:t>
            </a:r>
            <a:endParaRPr lang="vi-VN" sz="1800"/>
          </a:p>
        </p:txBody>
      </p:sp>
      <p:sp>
        <p:nvSpPr>
          <p:cNvPr id="44" name="Shape 44"/>
          <p:cNvSpPr/>
          <p:nvPr/>
        </p:nvSpPr>
        <p:spPr>
          <a:xfrm>
            <a:off x="914400" y="5934456"/>
            <a:ext cx="100584" cy="100584"/>
          </a:xfrm>
          <a:prstGeom prst="ellipse">
            <a:avLst/>
          </a:prstGeom>
          <a:solidFill>
            <a:srgbClr val="16A34A"/>
          </a:solidFill>
          <a:ln w="9525">
            <a:solidFill>
              <a:srgbClr val="16A34A"/>
            </a:solidFill>
          </a:ln>
        </p:spPr>
        <p:txBody>
          <a:bodyPr/>
          <a:lstStyle/>
          <a:p/>
        </p:txBody>
      </p:sp>
      <p:sp>
        <p:nvSpPr>
          <p:cNvPr id="45" name="TextBox 45"/>
          <p:cNvSpPr txBox="1"/>
          <p:nvPr/>
        </p:nvSpPr>
        <p:spPr>
          <a:xfrm>
            <a:off x="1170432" y="5861304"/>
            <a:ext cx="9985248" cy="347472"/>
          </a:xfrm>
          <a:prstGeom prst="rect">
            <a:avLst/>
          </a:prstGeom>
          <a:noFill/>
          <a:ln>
            <a:noFill/>
          </a:ln>
        </p:spPr>
        <p:txBody>
          <a:bodyPr wrap="square" anchor="t"/>
          <a:lstStyle/>
          <a:p>
            <a:pPr algn="l"/>
            <a:r>
              <a:rPr lang="vi-VN" sz="1800">
                <a:solidFill>
                  <a:srgbClr val="475569"/>
                </a:solidFill>
                <a:latin typeface="Aptos"/>
              </a:rPr>
              <a:t>Blockchain: ghi hash, verify dữ liệu, thống kê gas sử dụng.</a:t>
            </a:r>
            <a:endParaRPr lang="vi-VN"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502920" y="256032"/>
            <a:ext cx="9875520" cy="411480"/>
          </a:xfrm>
          <a:prstGeom prst="rect">
            <a:avLst/>
          </a:prstGeom>
          <a:noFill/>
          <a:ln>
            <a:noFill/>
          </a:ln>
        </p:spPr>
        <p:txBody>
          <a:bodyPr wrap="square" anchor="t"/>
          <a:lstStyle/>
          <a:p>
            <a:pPr algn="l"/>
            <a:r>
              <a:rPr lang="vi-VN" sz="2500" b="1">
                <a:solidFill>
                  <a:srgbClr val="0F172A"/>
                </a:solidFill>
                <a:latin typeface="Aptos"/>
              </a:rPr>
              <a:t>Đánh giá và kết luận</a:t>
            </a:r>
            <a:endParaRPr lang="vi-VN" sz="2500"/>
          </a:p>
        </p:txBody>
      </p:sp>
      <p:sp>
        <p:nvSpPr>
          <p:cNvPr id="3" name="TextBox 3"/>
          <p:cNvSpPr txBox="1"/>
          <p:nvPr/>
        </p:nvSpPr>
        <p:spPr>
          <a:xfrm>
            <a:off x="521207" y="713232"/>
            <a:ext cx="9601200" cy="292608"/>
          </a:xfrm>
          <a:prstGeom prst="rect">
            <a:avLst/>
          </a:prstGeom>
          <a:noFill/>
          <a:ln>
            <a:noFill/>
          </a:ln>
        </p:spPr>
        <p:txBody>
          <a:bodyPr wrap="square" anchor="t"/>
          <a:lstStyle/>
          <a:p>
            <a:pPr algn="l"/>
            <a:r>
              <a:rPr lang="vi-VN" sz="1200">
                <a:solidFill>
                  <a:srgbClr val="475569"/>
                </a:solidFill>
                <a:latin typeface="Aptos"/>
              </a:rPr>
              <a:t>Tổng hợp ngắn gọn cho phần kết thúc thuyết trình</a:t>
            </a:r>
            <a:endParaRPr lang="vi-VN" sz="1200"/>
          </a:p>
        </p:txBody>
      </p:sp>
      <p:sp>
        <p:nvSpPr>
          <p:cNvPr id="4" name="Shape 4"/>
          <p:cNvSpPr/>
          <p:nvPr/>
        </p:nvSpPr>
        <p:spPr>
          <a:xfrm>
            <a:off x="502920" y="1024128"/>
            <a:ext cx="1051560" cy="45720"/>
          </a:xfrm>
          <a:prstGeom prst="rect">
            <a:avLst/>
          </a:prstGeom>
          <a:solidFill>
            <a:srgbClr val="2563EB"/>
          </a:solidFill>
          <a:ln w="9525">
            <a:solidFill>
              <a:srgbClr val="2563EB"/>
            </a:solidFill>
          </a:ln>
        </p:spPr>
        <p:txBody>
          <a:bodyPr/>
          <a:lstStyle/>
          <a:p/>
        </p:txBody>
      </p:sp>
      <p:sp>
        <p:nvSpPr>
          <p:cNvPr id="20" name="Shape 20"/>
          <p:cNvSpPr/>
          <p:nvPr/>
        </p:nvSpPr>
        <p:spPr>
          <a:xfrm>
            <a:off x="777240" y="1417320"/>
            <a:ext cx="3429000" cy="1828800"/>
          </a:xfrm>
          <a:prstGeom prst="roundRect">
            <a:avLst/>
          </a:prstGeom>
          <a:solidFill>
            <a:srgbClr val="DCFCE7"/>
          </a:solidFill>
          <a:ln w="9525">
            <a:solidFill>
              <a:srgbClr val="E2E8F0"/>
            </a:solidFill>
          </a:ln>
        </p:spPr>
        <p:txBody>
          <a:bodyPr/>
          <a:lstStyle/>
          <a:p/>
        </p:txBody>
      </p:sp>
      <p:sp>
        <p:nvSpPr>
          <p:cNvPr id="21" name="Shape 21"/>
          <p:cNvSpPr/>
          <p:nvPr/>
        </p:nvSpPr>
        <p:spPr>
          <a:xfrm>
            <a:off x="777240" y="1417320"/>
            <a:ext cx="73152" cy="1828800"/>
          </a:xfrm>
          <a:prstGeom prst="rect">
            <a:avLst/>
          </a:prstGeom>
          <a:solidFill>
            <a:srgbClr val="16A34A"/>
          </a:solidFill>
          <a:ln w="9525">
            <a:solidFill>
              <a:srgbClr val="16A34A"/>
            </a:solidFill>
          </a:ln>
        </p:spPr>
        <p:txBody>
          <a:bodyPr/>
          <a:lstStyle/>
          <a:p/>
        </p:txBody>
      </p:sp>
      <p:sp>
        <p:nvSpPr>
          <p:cNvPr id="22" name="TextBox 22"/>
          <p:cNvSpPr txBox="1"/>
          <p:nvPr/>
        </p:nvSpPr>
        <p:spPr>
          <a:xfrm>
            <a:off x="1005840" y="1581912"/>
            <a:ext cx="3017520" cy="320040"/>
          </a:xfrm>
          <a:prstGeom prst="rect">
            <a:avLst/>
          </a:prstGeom>
          <a:noFill/>
          <a:ln>
            <a:noFill/>
          </a:ln>
        </p:spPr>
        <p:txBody>
          <a:bodyPr wrap="square" anchor="t"/>
          <a:lstStyle/>
          <a:p>
            <a:pPr algn="l"/>
            <a:r>
              <a:rPr lang="vi-VN" sz="1600" b="1">
                <a:solidFill>
                  <a:srgbClr val="0F172A"/>
                </a:solidFill>
                <a:latin typeface="Aptos"/>
              </a:rPr>
              <a:t>Ưu điểm</a:t>
            </a:r>
            <a:endParaRPr lang="vi-VN" sz="1600"/>
          </a:p>
        </p:txBody>
      </p:sp>
      <p:sp>
        <p:nvSpPr>
          <p:cNvPr id="23" name="TextBox 23"/>
          <p:cNvSpPr txBox="1"/>
          <p:nvPr/>
        </p:nvSpPr>
        <p:spPr>
          <a:xfrm>
            <a:off x="1005840" y="1984248"/>
            <a:ext cx="3017520" cy="1188720"/>
          </a:xfrm>
          <a:prstGeom prst="rect">
            <a:avLst/>
          </a:prstGeom>
          <a:noFill/>
          <a:ln>
            <a:noFill/>
          </a:ln>
        </p:spPr>
        <p:txBody>
          <a:bodyPr wrap="square" anchor="t"/>
          <a:lstStyle/>
          <a:p>
            <a:pPr algn="l"/>
            <a:r>
              <a:rPr lang="vi-VN" sz="1300">
                <a:solidFill>
                  <a:srgbClr val="475569"/>
                </a:solidFill>
                <a:latin typeface="Aptos"/>
              </a:rPr>
              <a:t>Có tính thực tiễn, nhiều vai trò, luồng nghiệp vụ tương đối đầy đủ.</a:t>
            </a:r>
            <a:endParaRPr lang="vi-VN" sz="1300"/>
          </a:p>
          <a:p>
            <a:pPr algn="l"/>
            <a:r>
              <a:rPr lang="vi-VN" sz="1300">
                <a:solidFill>
                  <a:srgbClr val="475569"/>
                </a:solidFill>
                <a:latin typeface="Aptos"/>
              </a:rPr>
              <a:t>Blockchain được dùng hợp lý để xác minh dữ liệu.</a:t>
            </a:r>
            <a:endParaRPr lang="vi-VN" sz="1300"/>
          </a:p>
        </p:txBody>
      </p:sp>
      <p:sp>
        <p:nvSpPr>
          <p:cNvPr id="24" name="Shape 24"/>
          <p:cNvSpPr/>
          <p:nvPr/>
        </p:nvSpPr>
        <p:spPr>
          <a:xfrm>
            <a:off x="4434840" y="1417320"/>
            <a:ext cx="3429000" cy="1828800"/>
          </a:xfrm>
          <a:prstGeom prst="roundRect">
            <a:avLst/>
          </a:prstGeom>
          <a:solidFill>
            <a:srgbClr val="FFEDD5"/>
          </a:solidFill>
          <a:ln w="9525">
            <a:solidFill>
              <a:srgbClr val="E2E8F0"/>
            </a:solidFill>
          </a:ln>
        </p:spPr>
        <p:txBody>
          <a:bodyPr/>
          <a:lstStyle/>
          <a:p/>
        </p:txBody>
      </p:sp>
      <p:sp>
        <p:nvSpPr>
          <p:cNvPr id="25" name="Shape 25"/>
          <p:cNvSpPr/>
          <p:nvPr/>
        </p:nvSpPr>
        <p:spPr>
          <a:xfrm>
            <a:off x="4434840" y="1417320"/>
            <a:ext cx="73152" cy="1828800"/>
          </a:xfrm>
          <a:prstGeom prst="rect">
            <a:avLst/>
          </a:prstGeom>
          <a:solidFill>
            <a:srgbClr val="F97316"/>
          </a:solidFill>
          <a:ln w="9525">
            <a:solidFill>
              <a:srgbClr val="F97316"/>
            </a:solidFill>
          </a:ln>
        </p:spPr>
        <p:txBody>
          <a:bodyPr/>
          <a:lstStyle/>
          <a:p/>
        </p:txBody>
      </p:sp>
      <p:sp>
        <p:nvSpPr>
          <p:cNvPr id="26" name="TextBox 26"/>
          <p:cNvSpPr txBox="1"/>
          <p:nvPr/>
        </p:nvSpPr>
        <p:spPr>
          <a:xfrm>
            <a:off x="4663440" y="1581912"/>
            <a:ext cx="3017520" cy="320040"/>
          </a:xfrm>
          <a:prstGeom prst="rect">
            <a:avLst/>
          </a:prstGeom>
          <a:noFill/>
          <a:ln>
            <a:noFill/>
          </a:ln>
        </p:spPr>
        <p:txBody>
          <a:bodyPr wrap="square" anchor="t"/>
          <a:lstStyle/>
          <a:p>
            <a:pPr algn="l"/>
            <a:r>
              <a:rPr lang="vi-VN" sz="1600" b="1">
                <a:solidFill>
                  <a:srgbClr val="0F172A"/>
                </a:solidFill>
                <a:latin typeface="Aptos"/>
              </a:rPr>
              <a:t>Hạn chế</a:t>
            </a:r>
            <a:endParaRPr lang="vi-VN" sz="1600"/>
          </a:p>
        </p:txBody>
      </p:sp>
      <p:sp>
        <p:nvSpPr>
          <p:cNvPr id="27" name="TextBox 27"/>
          <p:cNvSpPr txBox="1"/>
          <p:nvPr/>
        </p:nvSpPr>
        <p:spPr>
          <a:xfrm>
            <a:off x="4663440" y="1984248"/>
            <a:ext cx="3017520" cy="1188720"/>
          </a:xfrm>
          <a:prstGeom prst="rect">
            <a:avLst/>
          </a:prstGeom>
          <a:noFill/>
          <a:ln>
            <a:noFill/>
          </a:ln>
        </p:spPr>
        <p:txBody>
          <a:bodyPr wrap="square" anchor="t"/>
          <a:lstStyle/>
          <a:p>
            <a:pPr algn="l"/>
            <a:r>
              <a:rPr lang="vi-VN" sz="1300">
                <a:solidFill>
                  <a:srgbClr val="475569"/>
                </a:solidFill>
                <a:latin typeface="Aptos"/>
              </a:rPr>
              <a:t>Môi trường còn mang tính demo local.</a:t>
            </a:r>
            <a:endParaRPr lang="vi-VN" sz="1300"/>
          </a:p>
          <a:p>
            <a:pPr algn="l"/>
            <a:r>
              <a:rPr lang="vi-VN" sz="1300">
                <a:solidFill>
                  <a:srgbClr val="475569"/>
                </a:solidFill>
                <a:latin typeface="Aptos"/>
              </a:rPr>
              <a:t>Kiểm thử tự động và bảo mật cấu hình cần hoàn thiện thêm.</a:t>
            </a:r>
            <a:endParaRPr lang="vi-VN" sz="1300"/>
          </a:p>
        </p:txBody>
      </p:sp>
      <p:sp>
        <p:nvSpPr>
          <p:cNvPr id="28" name="Shape 28"/>
          <p:cNvSpPr/>
          <p:nvPr/>
        </p:nvSpPr>
        <p:spPr>
          <a:xfrm>
            <a:off x="8092440" y="1417320"/>
            <a:ext cx="3429000" cy="1828800"/>
          </a:xfrm>
          <a:prstGeom prst="roundRect">
            <a:avLst/>
          </a:prstGeom>
          <a:solidFill>
            <a:srgbClr val="DBEAFE"/>
          </a:solidFill>
          <a:ln w="9525">
            <a:solidFill>
              <a:srgbClr val="E2E8F0"/>
            </a:solidFill>
          </a:ln>
        </p:spPr>
        <p:txBody>
          <a:bodyPr/>
          <a:lstStyle/>
          <a:p/>
        </p:txBody>
      </p:sp>
      <p:sp>
        <p:nvSpPr>
          <p:cNvPr id="29" name="Shape 29"/>
          <p:cNvSpPr/>
          <p:nvPr/>
        </p:nvSpPr>
        <p:spPr>
          <a:xfrm>
            <a:off x="8092440" y="1417320"/>
            <a:ext cx="73152" cy="1828800"/>
          </a:xfrm>
          <a:prstGeom prst="rect">
            <a:avLst/>
          </a:prstGeom>
          <a:solidFill>
            <a:srgbClr val="2563EB"/>
          </a:solidFill>
          <a:ln w="9525">
            <a:solidFill>
              <a:srgbClr val="2563EB"/>
            </a:solidFill>
          </a:ln>
        </p:spPr>
        <p:txBody>
          <a:bodyPr/>
          <a:lstStyle/>
          <a:p/>
        </p:txBody>
      </p:sp>
      <p:sp>
        <p:nvSpPr>
          <p:cNvPr id="30" name="TextBox 30"/>
          <p:cNvSpPr txBox="1"/>
          <p:nvPr/>
        </p:nvSpPr>
        <p:spPr>
          <a:xfrm>
            <a:off x="8321040" y="1581912"/>
            <a:ext cx="3017520" cy="320040"/>
          </a:xfrm>
          <a:prstGeom prst="rect">
            <a:avLst/>
          </a:prstGeom>
          <a:noFill/>
          <a:ln>
            <a:noFill/>
          </a:ln>
        </p:spPr>
        <p:txBody>
          <a:bodyPr wrap="square" anchor="t"/>
          <a:lstStyle/>
          <a:p>
            <a:pPr algn="l"/>
            <a:r>
              <a:rPr lang="vi-VN" sz="1600" b="1">
                <a:solidFill>
                  <a:srgbClr val="0F172A"/>
                </a:solidFill>
                <a:latin typeface="Aptos"/>
              </a:rPr>
              <a:t>Hướng phát triển</a:t>
            </a:r>
            <a:endParaRPr lang="vi-VN" sz="1600"/>
          </a:p>
        </p:txBody>
      </p:sp>
      <p:sp>
        <p:nvSpPr>
          <p:cNvPr id="31" name="TextBox 31"/>
          <p:cNvSpPr txBox="1"/>
          <p:nvPr/>
        </p:nvSpPr>
        <p:spPr>
          <a:xfrm>
            <a:off x="8321040" y="1984248"/>
            <a:ext cx="3017520" cy="1188720"/>
          </a:xfrm>
          <a:prstGeom prst="rect">
            <a:avLst/>
          </a:prstGeom>
          <a:noFill/>
          <a:ln>
            <a:noFill/>
          </a:ln>
        </p:spPr>
        <p:txBody>
          <a:bodyPr wrap="square" anchor="t"/>
          <a:lstStyle/>
          <a:p>
            <a:pPr algn="l"/>
            <a:r>
              <a:rPr lang="vi-VN" sz="1300">
                <a:solidFill>
                  <a:srgbClr val="475569"/>
                </a:solidFill>
                <a:latin typeface="Aptos"/>
              </a:rPr>
              <a:t>Triển khai cloud, quản lý secret chuẩn hơn, mở rộng dashboard phân tích và kiểm thử tích hợp.</a:t>
            </a:r>
            <a:endParaRPr lang="vi-VN" sz="1300"/>
          </a:p>
        </p:txBody>
      </p:sp>
      <p:sp>
        <p:nvSpPr>
          <p:cNvPr id="34" name="TextBox 34"/>
          <p:cNvSpPr txBox="1"/>
          <p:nvPr/>
        </p:nvSpPr>
        <p:spPr>
          <a:xfrm>
            <a:off x="914400" y="4251960"/>
            <a:ext cx="10332720" cy="822960"/>
          </a:xfrm>
          <a:prstGeom prst="rect">
            <a:avLst/>
          </a:prstGeom>
          <a:noFill/>
          <a:ln>
            <a:noFill/>
          </a:ln>
        </p:spPr>
        <p:txBody>
          <a:bodyPr wrap="square" anchor="ctr"/>
          <a:lstStyle/>
          <a:p>
            <a:pPr algn="ctr"/>
            <a:r>
              <a:rPr lang="vi-VN" sz="2300" b="1">
                <a:solidFill>
                  <a:srgbClr val="0F172A"/>
                </a:solidFill>
                <a:latin typeface="Aptos"/>
              </a:rPr>
              <a:t>Kết luận: Hệ thống đáp ứng mục tiêu truy xuất nguồn gốc hàng hóa, minh bạch dữ liệu chuỗi cung ứng và hỗ trợ chống giả sản phẩm.</a:t>
            </a:r>
            <a:endParaRPr lang="vi-VN" sz="2300"/>
          </a:p>
        </p:txBody>
      </p:sp>
      <p:sp>
        <p:nvSpPr>
          <p:cNvPr id="35" name="TextBox 35"/>
          <p:cNvSpPr txBox="1"/>
          <p:nvPr/>
        </p:nvSpPr>
        <p:spPr>
          <a:xfrm>
            <a:off x="914400" y="5715000"/>
            <a:ext cx="10332720" cy="365760"/>
          </a:xfrm>
          <a:prstGeom prst="rect">
            <a:avLst/>
          </a:prstGeom>
          <a:noFill/>
          <a:ln>
            <a:noFill/>
          </a:ln>
        </p:spPr>
        <p:txBody>
          <a:bodyPr wrap="square" anchor="t"/>
          <a:lstStyle/>
          <a:p>
            <a:pPr algn="ctr"/>
            <a:r>
              <a:rPr lang="vi-VN" sz="2000" b="1">
                <a:solidFill>
                  <a:srgbClr val="2563EB"/>
                </a:solidFill>
                <a:latin typeface="Aptos"/>
              </a:rPr>
              <a:t>Em xin chân thành cảm ơn!</a:t>
            </a:r>
            <a:endParaRPr lang="vi-VN" sz="2000"/>
          </a:p>
        </p:txBody>
      </p:sp>
    </p:spTree>
  </p:cSld>
  <p:clrMapOvr>
    <a:masterClrMapping/>
  </p:clrMapOvr>
</p:sld>
</file>

<file path=ppt/theme/theme1.xml><?xml version="1.0" encoding="utf-8"?>
<a:theme xmlns:a="http://schemas.openxmlformats.org/drawingml/2006/main" name="DATN Theme">
  <a:themeElements>
    <a:clrScheme name="DATN">
      <a:dk1>
        <a:srgbClr val="0F172A"/>
      </a:dk1>
      <a:lt1>
        <a:srgbClr val="FFFFFF"/>
      </a:lt1>
      <a:dk2>
        <a:srgbClr val="1F2937"/>
      </a:dk2>
      <a:lt2>
        <a:srgbClr val="F8FAFC"/>
      </a:lt2>
      <a:accent1>
        <a:srgbClr val="2563EB"/>
      </a:accent1>
      <a:accent2>
        <a:srgbClr val="16A34A"/>
      </a:accent2>
      <a:accent3>
        <a:srgbClr val="F97316"/>
      </a:accent3>
      <a:accent4>
        <a:srgbClr val="DC2626"/>
      </a:accent4>
      <a:accent5>
        <a:srgbClr val="64748B"/>
      </a:accent5>
      <a:accent6>
        <a:srgbClr val="0F172A"/>
      </a:accent6>
      <a:hlink>
        <a:srgbClr val="2563EB"/>
      </a:hlink>
      <a:folHlink>
        <a:srgbClr val="1D4ED8"/>
      </a:folHlink>
    </a:clrScheme>
    <a:fontScheme name="Aptos">
      <a:majorFont>
        <a:latin typeface="Aptos Display"/>
      </a:majorFont>
      <a:minorFont>
        <a:latin typeface="Aptos"/>
      </a:minorFont>
    </a:fontScheme>
    <a:fmtScheme name="Office">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Microsoft PowerPoint</Application>
  <Slides>12</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DATN - Truy xuất nguồn gốc blockchain</dc:title>
  <dc:creator>Nguyễn Đăng Nam</dc:creator>
  <cp:lastModifiedBy>Codex</cp:lastModifiedBy>
</cp:coreProperties>
</file>