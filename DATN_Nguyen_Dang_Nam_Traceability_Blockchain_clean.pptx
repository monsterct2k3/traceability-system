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03504"/>
            <a:ext cx="63550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960120"/>
            <a:ext cx="5577840" cy="1508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800" b="1">
                <a:solidFill>
                  <a:srgbClr val="0B1220"/>
                </a:solidFill>
                <a:latin typeface="Aptos"/>
              </a:rPr>
              <a:t>Xây dựng hệ thống truy xuất nguồn gốc hàng hóa</a:t>
            </a:r>
          </a:p>
          <a:p>
            <a:pPr algn="l"/>
            <a:r>
              <a:rPr sz="2800" b="1">
                <a:solidFill>
                  <a:srgbClr val="0B1220"/>
                </a:solidFill>
                <a:latin typeface="Aptos"/>
              </a:rPr>
              <a:t>sử dụng công nghệ blockchain và microservice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724912"/>
            <a:ext cx="521208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Đồ án tốt nghiệp ngành Công nghệ thông tin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" y="3182112"/>
            <a:ext cx="1234440" cy="50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657600"/>
            <a:ext cx="5394960" cy="5669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Nguyễn Đăng Nam  |  CT060226  |  CT6B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4315968"/>
            <a:ext cx="521208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GVHD: TS. Trần Anh Tú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ThS. Nguyễn Văn Quyết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658368"/>
            <a:ext cx="2423160" cy="5394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7" y="907288"/>
            <a:ext cx="2203704" cy="4897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40112" y="3566160"/>
            <a:ext cx="1508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3743039"/>
            <a:ext cx="1234440" cy="6429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52360" y="6053328"/>
            <a:ext cx="1325880" cy="3017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6103620"/>
            <a:ext cx="1179576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Blockchain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6053328"/>
            <a:ext cx="1325880" cy="3017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6103620"/>
            <a:ext cx="1179576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Microservice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6053328"/>
            <a:ext cx="1325880" cy="30175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97312" y="6103620"/>
            <a:ext cx="1179576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QR/Serial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Bài toán đặt 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Tại điểm mua, người dùng cần thông tin đáng tin và dễ kiểm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63677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39" y="174138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1600200"/>
            <a:ext cx="239572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Khó kiểm chứng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84248"/>
            <a:ext cx="2395728" cy="1261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Người mua khó biết sản phẩm thật sự đến từ đâu và đã đi qua những khâu nào.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4173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417320"/>
            <a:ext cx="73152" cy="1920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636776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047" y="1741383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76088" y="1600200"/>
            <a:ext cx="239572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Mã có thể bị sao chép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1984248"/>
            <a:ext cx="2395728" cy="1261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Thông tin in trên bao bì hoặc mã truy xuất thông thường có thể bị dùng lại.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4173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41732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75904" y="163677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511" y="1741383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88552" y="1600200"/>
            <a:ext cx="239572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Dữ liệu cần kiểm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1984248"/>
            <a:ext cx="2395728" cy="1261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Nếu dữ liệu trong hệ thống bị sửa, cần có cách phát hiện sai lệch.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251960"/>
            <a:ext cx="10149840" cy="10789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9DD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526280"/>
            <a:ext cx="9509760" cy="4572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900" b="1">
                <a:solidFill>
                  <a:srgbClr val="0B1220"/>
                </a:solidFill>
                <a:latin typeface="Aptos"/>
              </a:rPr>
              <a:t>Hướng giải quyết: xây dựng hệ thống truy xuất nguồn gốc có mobile scan, dữ liệu chuỗi cung ứng và blockchain lưu hash để xác minh.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Mục tiêu và ý nghĩa thực tiễn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Tập trung vào trải nghiệm người mua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349300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163677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71" y="174138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81912" y="1600200"/>
            <a:ext cx="2414015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Xem thông tin tại siêu thị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1984248"/>
            <a:ext cx="2414015" cy="1490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Quét QR hoặc nhập serial để xem nguồn gốc, lịch sử vận chuyển và chi tiết sản phẩm.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417320"/>
            <a:ext cx="349300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417320"/>
            <a:ext cx="7315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63677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047" y="1741383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76088" y="1600200"/>
            <a:ext cx="2414015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Tham khảo đánh giá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1984248"/>
            <a:ext cx="2414015" cy="1490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Người mua sau có thể xem đánh giá từ người đã mua và sử dụng sản phẩm trước đó.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417320"/>
            <a:ext cx="349300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417320"/>
            <a:ext cx="73152" cy="2148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75904" y="1636776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511" y="1741383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88552" y="1600200"/>
            <a:ext cx="2414015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Hỗ trợ chống giả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1984248"/>
            <a:ext cx="2414015" cy="1490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Mỗi sản phẩm gắn với một serial tờ tiền đã đăng ký; serial chỉ dùng một lần để phát hiện dùng lại hoặc không khớp.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51960"/>
            <a:ext cx="10424160" cy="8412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2100" b="1">
                <a:solidFill>
                  <a:srgbClr val="0B1220"/>
                </a:solidFill>
                <a:latin typeface="Aptos"/>
              </a:rPr>
              <a:t>Mục tiêu kỹ thuật: quản lý chuỗi cung ứng nhiều vai trò, truy xuất ngược đến nguyên liệu và xác minh tính toàn vẹn dữ liệu bằng blockchain.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Phạm vi và tác nhân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Mỗi vai trò tương ứng một lát cắt nghiệp vụ trong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163677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71" y="174138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81912" y="1600200"/>
            <a:ext cx="23225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1984248"/>
            <a:ext cx="2322576" cy="8503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Duyệt vai trò,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quản lý người dùng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1417320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1417320"/>
            <a:ext cx="73152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64024" y="163677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631" y="1741383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1600200"/>
            <a:ext cx="23225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Supplier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1984248"/>
            <a:ext cx="2322576" cy="8503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Tạo và quản lý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lô nguyên liệu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417320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2" y="1417320"/>
            <a:ext cx="73152" cy="1508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8784" y="1636776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391" y="1741383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71432" y="1600200"/>
            <a:ext cx="23225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Manufacturer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1984248"/>
            <a:ext cx="2322576" cy="8503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Sản xuất, đóng gói,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đăng ký serial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383280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38328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9264" y="360273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71" y="3707343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81912" y="3566160"/>
            <a:ext cx="23225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Retailer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3950208"/>
            <a:ext cx="2322576" cy="8503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Đặt hàng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thành phẩm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7992" y="3383280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07992" y="3383280"/>
            <a:ext cx="73152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64024" y="360273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8631" y="3707343"/>
            <a:ext cx="266273" cy="26627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376672" y="3566160"/>
            <a:ext cx="23225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Transporter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3950208"/>
            <a:ext cx="2322576" cy="8503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Xác nhận lấy hàng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và giao hàng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2" y="3383280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02752" y="3383280"/>
            <a:ext cx="73152" cy="1508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58784" y="3602736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u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3391" y="3707343"/>
            <a:ext cx="266273" cy="26627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171432" y="3566160"/>
            <a:ext cx="23225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User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1432" y="3950208"/>
            <a:ext cx="2322576" cy="8503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Quét truy xuất,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xem/đánh giá 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Kiến trúc tổng thể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Thiết kế theo hướng microservices, có gateway và xử lý bất đồng bộ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72821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59" y="183282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1691639"/>
            <a:ext cx="129844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React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75688"/>
            <a:ext cx="1298448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Dashboard nghiệp vụ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" y="328269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59" y="3387303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00200" y="3246120"/>
            <a:ext cx="129844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Flutter 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30168"/>
            <a:ext cx="1298448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Scan, retailer, transporter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084831"/>
            <a:ext cx="685800" cy="5486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3639312"/>
            <a:ext cx="685800" cy="5486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39" y="2212848"/>
            <a:ext cx="2103120" cy="107899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2212848"/>
            <a:ext cx="73152" cy="10789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33672" y="2432304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79" y="2536911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46320" y="2395728"/>
            <a:ext cx="1024127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API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79776"/>
            <a:ext cx="1024127" cy="420623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Điểm vào chung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2743200"/>
            <a:ext cx="594360" cy="5486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03720" y="1417320"/>
            <a:ext cx="12344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1655064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Aptos"/>
              </a:rPr>
              <a:t>Identity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8471" y="1417320"/>
            <a:ext cx="12344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1655064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Aptos"/>
              </a:rPr>
              <a:t>Catalog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93224" y="1417320"/>
            <a:ext cx="12344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8944" y="1655064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Aptos"/>
              </a:rPr>
              <a:t>Core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2807208"/>
            <a:ext cx="12344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044952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Aptos"/>
              </a:rPr>
              <a:t>Trade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48471" y="2807208"/>
            <a:ext cx="12344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2" y="3044952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Aptos"/>
              </a:rPr>
              <a:t>Blockchain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4251960"/>
            <a:ext cx="1691640" cy="1143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03720" y="425196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59752" y="447141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359" y="4576023"/>
            <a:ext cx="266273" cy="26627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772400" y="4434840"/>
            <a:ext cx="61264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818888"/>
            <a:ext cx="612648" cy="4846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Lưu nghiệp vụ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87968" y="4251960"/>
            <a:ext cx="1691640" cy="1143000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87968" y="425196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44000" y="447141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kafk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8607" y="4576023"/>
            <a:ext cx="266273" cy="26627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756648" y="4434840"/>
            <a:ext cx="61264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Kafka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648" y="4818888"/>
            <a:ext cx="612648" cy="4846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Event async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63072" y="4251960"/>
            <a:ext cx="1005840" cy="114300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63072" y="4251960"/>
            <a:ext cx="73152" cy="11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119104" y="4471416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3711" y="4576023"/>
            <a:ext cx="266273" cy="26627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731752" y="4434840"/>
            <a:ext cx="-73151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Chain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31752" y="4818888"/>
            <a:ext cx="-73151" cy="4846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Hash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Công nghệ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Chia theo các lớp triển khai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2487168" cy="3063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00200"/>
            <a:ext cx="73152" cy="3063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181965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71" y="192426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81912" y="1783080"/>
            <a:ext cx="14081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67128"/>
            <a:ext cx="1408176" cy="2404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Spring Boot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Spring Security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Eureka, Feign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600200"/>
            <a:ext cx="2487168" cy="3063240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1600200"/>
            <a:ext cx="73152" cy="3063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58184" y="181965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791" y="1924263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70832" y="1783080"/>
            <a:ext cx="14081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Frontend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167128"/>
            <a:ext cx="1408176" cy="2404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React, Vite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Ant Design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React Query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600200"/>
            <a:ext cx="2487168" cy="306324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600200"/>
            <a:ext cx="73152" cy="3063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47104" y="1819656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711" y="1924263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59752" y="1783080"/>
            <a:ext cx="14081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2167128"/>
            <a:ext cx="1408176" cy="2404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Flutter, Bloc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Dio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QR/OCR Scanner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9991" y="1600200"/>
            <a:ext cx="2487168" cy="3063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79991" y="1600200"/>
            <a:ext cx="73152" cy="3063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36023" y="181965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0631" y="1924263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48671" y="1783080"/>
            <a:ext cx="1408176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Blockchain &amp; Hạ tầng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8671" y="2167128"/>
            <a:ext cx="1408176" cy="2404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Solidity, Web3j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PostgreSQL, Kafka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WebSocket, Ganache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94960"/>
            <a:ext cx="1024128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700" b="1">
                <a:solidFill>
                  <a:srgbClr val="0B1220"/>
                </a:solidFill>
                <a:latin typeface="Aptos"/>
              </a:rPr>
              <a:t>Lựa chọn công nghệ phục vụ ba yêu cầu: chia tách nghiệp vụ, truy xuất trên thiết bị di động và xác minh dữ liệu bằng blockchain.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Luồng nghiệp vụ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Tóm tắt đường đi của hàng hóa trong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0352" y="1828800"/>
            <a:ext cx="786384" cy="7863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084831"/>
            <a:ext cx="786384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79" y="2880360"/>
            <a:ext cx="1444752" cy="5943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Supplier</a:t>
            </a:r>
          </a:p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tạo nguyên liệu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99031" y="2212848"/>
            <a:ext cx="621792" cy="5029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57984" y="1828800"/>
            <a:ext cx="786384" cy="7863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57984" y="2084831"/>
            <a:ext cx="786384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880360"/>
            <a:ext cx="1444752" cy="5943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Manufacturer</a:t>
            </a:r>
          </a:p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mua nguyên liệu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6663" y="2212848"/>
            <a:ext cx="621792" cy="5029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5615" y="1828800"/>
            <a:ext cx="786384" cy="78638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2084831"/>
            <a:ext cx="786384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880360"/>
            <a:ext cx="1444752" cy="5943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Sản xuất</a:t>
            </a:r>
          </a:p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pallet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296" y="2212848"/>
            <a:ext cx="621792" cy="5029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13248" y="1828800"/>
            <a:ext cx="786384" cy="7863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2084831"/>
            <a:ext cx="786384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2880360"/>
            <a:ext cx="1444752" cy="5943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Đóng gói</a:t>
            </a:r>
          </a:p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carton/unit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1928" y="2212848"/>
            <a:ext cx="621792" cy="5029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40880" y="1828800"/>
            <a:ext cx="786384" cy="7863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084831"/>
            <a:ext cx="786384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880360"/>
            <a:ext cx="1444752" cy="5943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Retailer</a:t>
            </a:r>
          </a:p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đặt hàng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2212848"/>
            <a:ext cx="621792" cy="5029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68512" y="1828800"/>
            <a:ext cx="786384" cy="78638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2084831"/>
            <a:ext cx="786384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80360"/>
            <a:ext cx="1444752" cy="5943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Transporter</a:t>
            </a:r>
          </a:p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giao hàng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7192" y="2212848"/>
            <a:ext cx="621792" cy="5029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96144" y="1828800"/>
            <a:ext cx="786384" cy="7863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96144" y="2084831"/>
            <a:ext cx="786384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2880360"/>
            <a:ext cx="1444752" cy="5943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User</a:t>
            </a:r>
          </a:p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quét truy xuất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4617720"/>
            <a:ext cx="10561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882896"/>
            <a:ext cx="9966960" cy="38404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Điểm đáng chú ý: hệ thống quản lý cả dữ liệu truy xuất và trạng thái giao dịch/vận chuyển giữa nhiều vai trò.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Mô hình truy xuất nguồn gốc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Truy ngược từ một sản phẩm lẻ về nguyên liệu ban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371600" cy="877824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029968"/>
            <a:ext cx="122529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Aptos"/>
              </a:rPr>
              <a:t>Raw 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31720"/>
            <a:ext cx="122529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Lô nguyên liệu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93392" y="2240280"/>
            <a:ext cx="347472" cy="50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50592" y="1828800"/>
            <a:ext cx="1371600" cy="877824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3744" y="2029968"/>
            <a:ext cx="122529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Aptos"/>
              </a:rPr>
              <a:t>Pallet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331720"/>
            <a:ext cx="122529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Lô sản xuất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95344" y="2240280"/>
            <a:ext cx="347472" cy="50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52544" y="1828800"/>
            <a:ext cx="1371600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2029968"/>
            <a:ext cx="122529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Aptos"/>
              </a:rPr>
              <a:t>Carton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331720"/>
            <a:ext cx="122529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Thùng hàng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97296" y="2240280"/>
            <a:ext cx="34747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54496" y="1828800"/>
            <a:ext cx="1371600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029968"/>
            <a:ext cx="122529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Aptos"/>
              </a:rPr>
              <a:t>Product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331720"/>
            <a:ext cx="122529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Sản phẩm lẻ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240280"/>
            <a:ext cx="34747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56448" y="1828800"/>
            <a:ext cx="1371600" cy="877824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029968"/>
            <a:ext cx="122529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Aptos"/>
              </a:rPr>
              <a:t>QR / Serial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31720"/>
            <a:ext cx="122529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Mã truy xuất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240280"/>
            <a:ext cx="347472" cy="502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58400" y="1828800"/>
            <a:ext cx="1371600" cy="877824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31552" y="2029968"/>
            <a:ext cx="122529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Aptos"/>
              </a:rPr>
              <a:t>User 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1552" y="2331720"/>
            <a:ext cx="122529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Người dùng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77639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" y="3977639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24712" y="419709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19" y="4301703"/>
            <a:ext cx="266273" cy="26627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737360" y="4160520"/>
            <a:ext cx="230428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Dữ liệu nghiệp vụ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544568"/>
            <a:ext cx="2304288" cy="5760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Product, carton, pallet, raw batch và transfer record tạo thành timeline.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3977639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26280" y="3977639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2312" y="419709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919" y="4301703"/>
            <a:ext cx="266273" cy="26627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394960" y="4160520"/>
            <a:ext cx="230428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Blockchain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4544568"/>
            <a:ext cx="2304288" cy="5760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Hash dùng để kiểm chứng tính toàn vẹn của dữ liệu.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79" y="3977639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83879" y="3977639"/>
            <a:ext cx="73152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39911" y="4197096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519" y="4301703"/>
            <a:ext cx="266273" cy="26627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52559" y="4160520"/>
            <a:ext cx="230428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Mobile scan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59" y="4544568"/>
            <a:ext cx="2304288" cy="5760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Người dùng xem timeline và kết quả xác minh.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Cơ chế blockchain và xác minh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Không đưa toàn bộ dữ liệu lên blockchain, chỉ neo hash quan trọng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2331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6916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911095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447" y="201570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18488" y="1874520"/>
            <a:ext cx="125272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Dữ liệu nghiệp vụ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258568"/>
            <a:ext cx="1252728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Lưu trong 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2359152"/>
            <a:ext cx="402336" cy="5029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1691640"/>
            <a:ext cx="2331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691640"/>
            <a:ext cx="73152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22191" y="1911095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799" y="2015703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34840" y="1874520"/>
            <a:ext cx="125272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Tính 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58568"/>
            <a:ext cx="1252728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Chuẩn hóa và băm dữ liệu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98464" y="2359152"/>
            <a:ext cx="402336" cy="5029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82512" y="1691640"/>
            <a:ext cx="2331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1691640"/>
            <a:ext cx="73152" cy="1371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38544" y="1911095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151" y="2015703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51192" y="1874520"/>
            <a:ext cx="125272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Ghi blockchain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258568"/>
            <a:ext cx="1252728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Lưu hash + event audit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14816" y="2359152"/>
            <a:ext cx="402336" cy="5029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98864" y="1691640"/>
            <a:ext cx="2331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98864" y="16916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54896" y="1911095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503" y="201570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067544" y="1874520"/>
            <a:ext cx="125272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258568"/>
            <a:ext cx="1252728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Tính lại và so sánh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" y="3977639"/>
            <a:ext cx="4892040" cy="1243584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7552" y="3977639"/>
            <a:ext cx="73152" cy="12435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43584" y="419709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191" y="4301703"/>
            <a:ext cx="266273" cy="26627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856232" y="4160520"/>
            <a:ext cx="381304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Khi dữ liệu còn nguyên vẹn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56232" y="4544568"/>
            <a:ext cx="3813048" cy="5852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Hash tính lại từ DB khớp với hash đã ghi trên blockchain.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91072" y="3977639"/>
            <a:ext cx="4892040" cy="1243584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91072" y="3977639"/>
            <a:ext cx="73152" cy="12435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47104" y="4197096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711" y="4301703"/>
            <a:ext cx="266273" cy="26627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159752" y="4160520"/>
            <a:ext cx="381304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Khi dữ liệu bị sửa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9752" y="4544568"/>
            <a:ext cx="3813048" cy="5852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Hash không khớp, hệ thống cảnh báo dữ liệu truy xuất không còn toàn vẹn.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Chống giả và đánh giá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Hai chức năng giúp người dùng có thêm niềm tin khi mua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5074920" cy="1874519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73152" cy="187451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1636776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71" y="174138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81912" y="1600200"/>
            <a:ext cx="399592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Chống giả bằng serial tờ tiền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1984248"/>
            <a:ext cx="3995928" cy="1216151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Mỗi sản phẩm gắn với một serial tờ tiền đã đăng ký; serial chỉ được dùng một lần.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Nếu serial bị dùng lại hoặc không khớp sản phẩm, hệ thống phát hiện bất thường.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611880"/>
            <a:ext cx="5074920" cy="1508760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611880"/>
            <a:ext cx="73152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3133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71" y="3935943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81912" y="3794760"/>
            <a:ext cx="399592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Đánh giá sản phẩm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178808"/>
            <a:ext cx="3995928" cy="8503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Người dùng đã mua có thể đánh giá, người mua sau có thêm thông tin tham khảo thực tế.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298448"/>
            <a:ext cx="1664208" cy="3794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590548"/>
            <a:ext cx="1444752" cy="32105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641080" y="1298448"/>
            <a:ext cx="1664208" cy="3794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07" y="1590548"/>
            <a:ext cx="1444752" cy="321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Kết quả đạt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Các chức năng chính đã hoàn thiện để demo bảo vệ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3" y="1271016"/>
            <a:ext cx="349300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33986"/>
            <a:ext cx="3383280" cy="11176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97096" y="1271016"/>
            <a:ext cx="349300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295" y="1325880"/>
            <a:ext cx="3382609" cy="1600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18704" y="1115568"/>
            <a:ext cx="1316736" cy="28072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178052"/>
            <a:ext cx="1207008" cy="2682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317736" y="1115568"/>
            <a:ext cx="1316736" cy="28072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1178052"/>
            <a:ext cx="1207008" cy="2682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716767" y="1115568"/>
            <a:ext cx="1316736" cy="28072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632" y="1178052"/>
            <a:ext cx="1207008" cy="268224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914400" y="4453128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343400"/>
            <a:ext cx="5394960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Backend microservices: Identity, Catalog, Core, Trade Logistics, Blockchain.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89204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4782312"/>
            <a:ext cx="5394960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Web nghiệp vụ cho admin, supplier, manufacturer.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30952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5221224"/>
            <a:ext cx="5394960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Mobile: scan truy xuất, đánh giá, retailer order, transporter delivery.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769864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5660136"/>
            <a:ext cx="5394960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Blockchain: ghi hash, verify dữ liệu, thống kê gas; Kafka/WebSocket cho xử lý bất đồng bộ.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Đánh giá và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98755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Kết thúc ngắn, để dành thời gian cho phần hỏi đáp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914400" cy="411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429000" cy="1828800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163677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79" y="174138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19" y="1600200"/>
            <a:ext cx="235000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Ưu điểm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984248"/>
            <a:ext cx="2350008" cy="11704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Có tính thực tiễn, nhiều vai trò, luồng nghiệp vụ tương đối đầy đủ.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Blockchain dùng hợp lý để xác minh dữ liệu.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429000" cy="182880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90872" y="1636776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479" y="1741383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0" y="1600200"/>
            <a:ext cx="235000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Hạn chế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84248"/>
            <a:ext cx="2350008" cy="11704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Môi trường còn mang tính demo local.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Kiểm thử tự động và bảo mật cấu hình cần hoàn thiện thêm.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48471" y="163677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079" y="1741383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61119" y="1600200"/>
            <a:ext cx="2350008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Hướng phát triển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1984248"/>
            <a:ext cx="2350008" cy="11704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Triển khai cloud, quản lý secret chuẩn hơn, mở rộng dashboard phân tích và test tích hợp.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224528"/>
            <a:ext cx="10378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480560"/>
            <a:ext cx="978408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2000" b="1">
                <a:solidFill>
                  <a:srgbClr val="0B1220"/>
                </a:solidFill>
                <a:latin typeface="Aptos"/>
              </a:rPr>
              <a:t>Hệ thống đáp ứng mục tiêu truy xuất nguồn gốc, minh bạch dữ liệu chuỗi cung ứng và hỗ trợ chống giả sản phẩm.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378440" cy="38404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Em xin chân thành cảm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